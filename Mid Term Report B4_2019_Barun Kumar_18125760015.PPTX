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sldIdLst>
    <p:sldId id="257" r:id="rId2"/>
    <p:sldId id="271" r:id="rId3"/>
    <p:sldId id="272" r:id="rId4"/>
    <p:sldId id="273" r:id="rId5"/>
    <p:sldId id="274" r:id="rId6"/>
    <p:sldId id="275" r:id="rId7"/>
    <p:sldId id="276" r:id="rId8"/>
    <p:sldId id="277" r:id="rId9"/>
    <p:sldId id="278" r:id="rId10"/>
    <p:sldId id="284" r:id="rId11"/>
    <p:sldId id="285" r:id="rId12"/>
    <p:sldId id="279" r:id="rId13"/>
    <p:sldId id="286" r:id="rId14"/>
    <p:sldId id="287" r:id="rId15"/>
    <p:sldId id="288" r:id="rId16"/>
    <p:sldId id="280" r:id="rId17"/>
    <p:sldId id="295" r:id="rId18"/>
    <p:sldId id="289" r:id="rId19"/>
    <p:sldId id="290" r:id="rId20"/>
    <p:sldId id="291" r:id="rId21"/>
    <p:sldId id="292" r:id="rId22"/>
    <p:sldId id="293" r:id="rId23"/>
    <p:sldId id="296" r:id="rId24"/>
    <p:sldId id="294" r:id="rId25"/>
    <p:sldId id="297" r:id="rId26"/>
    <p:sldId id="298" r:id="rId27"/>
    <p:sldId id="299" r:id="rId28"/>
    <p:sldId id="281" r:id="rId29"/>
    <p:sldId id="283" r:id="rId30"/>
    <p:sldId id="26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78" y="-6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A1899A70-3933-4DBF-90EF-BA548142E849}" type="datetimeFigureOut">
              <a:rPr lang="en-IN" smtClean="0"/>
              <a:t>09-05-2019</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00C0149-F25E-4258-9874-E37679DDFFC2}" type="slidenum">
              <a:rPr lang="en-IN" smtClean="0"/>
              <a:t>‹#›</a:t>
            </a:fld>
            <a:endParaRPr lang="en-IN"/>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A1899A70-3933-4DBF-90EF-BA548142E849}" type="datetimeFigureOut">
              <a:rPr lang="en-IN" smtClean="0"/>
              <a:t>09-05-2019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1899A70-3933-4DBF-90EF-BA548142E849}" type="datetimeFigureOut">
              <a:rPr lang="en-IN" smtClean="0"/>
              <a:t>09-05-2019</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300C0149-F25E-4258-9874-E37679DDFFC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1899A70-3933-4DBF-90EF-BA548142E849}" type="datetimeFigureOut">
              <a:rPr lang="en-IN" smtClean="0"/>
              <a:t>09-05-2019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0C0149-F25E-4258-9874-E37679DDFFC2}" type="slidenum">
              <a:rPr lang="en-IN" smtClean="0"/>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A1899A70-3933-4DBF-90EF-BA548142E849}" type="datetimeFigureOut">
              <a:rPr lang="en-IN" smtClean="0"/>
              <a:t>09-05-2019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0C0149-F25E-4258-9874-E37679DDFFC2}" type="slidenum">
              <a:rPr lang="en-IN" smtClean="0"/>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1899A70-3933-4DBF-90EF-BA548142E849}" type="datetimeFigureOut">
              <a:rPr lang="en-IN" smtClean="0"/>
              <a:t>09-05-2019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899A70-3933-4DBF-90EF-BA548142E849}" type="datetimeFigureOut">
              <a:rPr lang="en-IN" smtClean="0"/>
              <a:t>09-05-2019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1899A70-3933-4DBF-90EF-BA548142E849}" type="datetimeFigureOut">
              <a:rPr lang="en-IN" smtClean="0"/>
              <a:t>09-05-2019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0C0149-F25E-4258-9874-E37679DDFFC2}" type="slidenum">
              <a:rPr lang="en-IN" smtClean="0"/>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1899A70-3933-4DBF-90EF-BA548142E849}" type="datetimeFigureOut">
              <a:rPr lang="en-IN" smtClean="0"/>
              <a:t>09-05-2019</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300C0149-F25E-4258-9874-E37679DDFFC2}" type="slidenum">
              <a:rPr lang="en-IN" smtClean="0"/>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1899A70-3933-4DBF-90EF-BA548142E849}" type="datetimeFigureOut">
              <a:rPr lang="en-IN" smtClean="0"/>
              <a:t>09-05-2019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1899A70-3933-4DBF-90EF-BA548142E849}" type="datetimeFigureOut">
              <a:rPr lang="en-IN" smtClean="0"/>
              <a:t>09-05-2019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ing Slide 2">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b="18070"/>
          <a:stretch/>
        </p:blipFill>
        <p:spPr>
          <a:xfrm>
            <a:off x="-3179" y="0"/>
            <a:ext cx="12195179" cy="6857766"/>
          </a:xfrm>
          <a:prstGeom prst="rect">
            <a:avLst/>
          </a:prstGeom>
        </p:spPr>
      </p:pic>
      <p:sp>
        <p:nvSpPr>
          <p:cNvPr id="16" name="Title 1"/>
          <p:cNvSpPr>
            <a:spLocks noGrp="1"/>
          </p:cNvSpPr>
          <p:nvPr>
            <p:ph type="title" hasCustomPrompt="1"/>
          </p:nvPr>
        </p:nvSpPr>
        <p:spPr>
          <a:xfrm>
            <a:off x="658528" y="3721253"/>
            <a:ext cx="6242051" cy="948454"/>
          </a:xfrm>
        </p:spPr>
        <p:txBody>
          <a:bodyPr anchor="b">
            <a:noAutofit/>
          </a:bodyPr>
          <a:lstStyle>
            <a:lvl1pPr>
              <a:defRPr lang="en-IN" sz="6000" kern="1200" dirty="0">
                <a:solidFill>
                  <a:prstClr val="white"/>
                </a:solidFill>
                <a:latin typeface="Poppins" panose="02000000000000000000" pitchFamily="2" charset="0"/>
                <a:ea typeface="+mn-ea"/>
                <a:cs typeface="Poppins" panose="02000000000000000000" pitchFamily="2" charset="0"/>
              </a:defRPr>
            </a:lvl1pPr>
          </a:lstStyle>
          <a:p>
            <a:r>
              <a:rPr lang="en-US" dirty="0"/>
              <a:t>Click to edit title</a:t>
            </a:r>
            <a:endParaRPr lang="en-IN" dirty="0"/>
          </a:p>
        </p:txBody>
      </p:sp>
      <p:pic>
        <p:nvPicPr>
          <p:cNvPr id="17" name="Picture 16"/>
          <p:cNvPicPr>
            <a:picLocks noChangeAspect="1"/>
          </p:cNvPicPr>
          <p:nvPr userDrawn="1"/>
        </p:nvPicPr>
        <p:blipFill>
          <a:blip r:embed="rId3"/>
          <a:stretch>
            <a:fillRect/>
          </a:stretch>
        </p:blipFill>
        <p:spPr>
          <a:xfrm>
            <a:off x="8314482" y="2"/>
            <a:ext cx="3877519" cy="809065"/>
          </a:xfrm>
          <a:prstGeom prst="rect">
            <a:avLst/>
          </a:prstGeom>
        </p:spPr>
      </p:pic>
    </p:spTree>
    <p:extLst>
      <p:ext uri="{BB962C8B-B14F-4D97-AF65-F5344CB8AC3E}">
        <p14:creationId xmlns:p14="http://schemas.microsoft.com/office/powerpoint/2010/main" val="388662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userDrawn="1"/>
        </p:nvGrpSpPr>
        <p:grpSpPr>
          <a:xfrm>
            <a:off x="-7047" y="1"/>
            <a:ext cx="9347563" cy="6858000"/>
            <a:chOff x="-7046" y="8021"/>
            <a:chExt cx="9347562" cy="6849979"/>
          </a:xfrm>
        </p:grpSpPr>
        <p:sp>
          <p:nvSpPr>
            <p:cNvPr id="8" name="Rectangle 6"/>
            <p:cNvSpPr/>
            <p:nvPr/>
          </p:nvSpPr>
          <p:spPr>
            <a:xfrm>
              <a:off x="-7046" y="8021"/>
              <a:ext cx="9347562" cy="6849979"/>
            </a:xfrm>
            <a:custGeom>
              <a:avLst/>
              <a:gdLst>
                <a:gd name="connsiteX0" fmla="*/ 0 w 2229853"/>
                <a:gd name="connsiteY0" fmla="*/ 0 h 6858000"/>
                <a:gd name="connsiteX1" fmla="*/ 2229853 w 2229853"/>
                <a:gd name="connsiteY1" fmla="*/ 0 h 6858000"/>
                <a:gd name="connsiteX2" fmla="*/ 2229853 w 2229853"/>
                <a:gd name="connsiteY2" fmla="*/ 6858000 h 6858000"/>
                <a:gd name="connsiteX3" fmla="*/ 0 w 2229853"/>
                <a:gd name="connsiteY3" fmla="*/ 6858000 h 6858000"/>
                <a:gd name="connsiteX4" fmla="*/ 0 w 2229853"/>
                <a:gd name="connsiteY4" fmla="*/ 0 h 6858000"/>
                <a:gd name="connsiteX0" fmla="*/ 0 w 6489032"/>
                <a:gd name="connsiteY0" fmla="*/ 0 h 6858000"/>
                <a:gd name="connsiteX1" fmla="*/ 6489032 w 6489032"/>
                <a:gd name="connsiteY1" fmla="*/ 8021 h 6858000"/>
                <a:gd name="connsiteX2" fmla="*/ 2229853 w 6489032"/>
                <a:gd name="connsiteY2" fmla="*/ 6858000 h 6858000"/>
                <a:gd name="connsiteX3" fmla="*/ 0 w 6489032"/>
                <a:gd name="connsiteY3" fmla="*/ 6858000 h 6858000"/>
                <a:gd name="connsiteX4" fmla="*/ 0 w 6489032"/>
                <a:gd name="connsiteY4" fmla="*/ 0 h 6858000"/>
                <a:gd name="connsiteX0" fmla="*/ 0 w 6489032"/>
                <a:gd name="connsiteY0" fmla="*/ 0 h 6858000"/>
                <a:gd name="connsiteX1" fmla="*/ 6489032 w 6489032"/>
                <a:gd name="connsiteY1" fmla="*/ 8021 h 6858000"/>
                <a:gd name="connsiteX2" fmla="*/ 1090863 w 6489032"/>
                <a:gd name="connsiteY2" fmla="*/ 6833937 h 6858000"/>
                <a:gd name="connsiteX3" fmla="*/ 0 w 6489032"/>
                <a:gd name="connsiteY3" fmla="*/ 6858000 h 6858000"/>
                <a:gd name="connsiteX4" fmla="*/ 0 w 6489032"/>
                <a:gd name="connsiteY4" fmla="*/ 0 h 6858000"/>
                <a:gd name="connsiteX0" fmla="*/ 0 w 6489032"/>
                <a:gd name="connsiteY0" fmla="*/ 0 h 6858000"/>
                <a:gd name="connsiteX1" fmla="*/ 6489032 w 6489032"/>
                <a:gd name="connsiteY1" fmla="*/ 8021 h 6858000"/>
                <a:gd name="connsiteX2" fmla="*/ 1138990 w 6489032"/>
                <a:gd name="connsiteY2" fmla="*/ 6858000 h 6858000"/>
                <a:gd name="connsiteX3" fmla="*/ 0 w 6489032"/>
                <a:gd name="connsiteY3" fmla="*/ 6858000 h 6858000"/>
                <a:gd name="connsiteX4" fmla="*/ 0 w 6489032"/>
                <a:gd name="connsiteY4" fmla="*/ 0 h 6858000"/>
                <a:gd name="connsiteX0" fmla="*/ 2866768 w 9355800"/>
                <a:gd name="connsiteY0" fmla="*/ 0 h 6874475"/>
                <a:gd name="connsiteX1" fmla="*/ 9355800 w 9355800"/>
                <a:gd name="connsiteY1" fmla="*/ 8021 h 6874475"/>
                <a:gd name="connsiteX2" fmla="*/ 4005758 w 9355800"/>
                <a:gd name="connsiteY2" fmla="*/ 6858000 h 6874475"/>
                <a:gd name="connsiteX3" fmla="*/ 0 w 9355800"/>
                <a:gd name="connsiteY3" fmla="*/ 6874475 h 6874475"/>
                <a:gd name="connsiteX4" fmla="*/ 2866768 w 9355800"/>
                <a:gd name="connsiteY4" fmla="*/ 0 h 6874475"/>
                <a:gd name="connsiteX0" fmla="*/ 2866768 w 9355800"/>
                <a:gd name="connsiteY0" fmla="*/ 0 h 6858000"/>
                <a:gd name="connsiteX1" fmla="*/ 9355800 w 9355800"/>
                <a:gd name="connsiteY1" fmla="*/ 8021 h 6858000"/>
                <a:gd name="connsiteX2" fmla="*/ 4005758 w 9355800"/>
                <a:gd name="connsiteY2" fmla="*/ 6858000 h 6858000"/>
                <a:gd name="connsiteX3" fmla="*/ 0 w 9355800"/>
                <a:gd name="connsiteY3" fmla="*/ 6841524 h 6858000"/>
                <a:gd name="connsiteX4" fmla="*/ 2866768 w 9355800"/>
                <a:gd name="connsiteY4" fmla="*/ 0 h 6858000"/>
                <a:gd name="connsiteX0" fmla="*/ 2850292 w 9339324"/>
                <a:gd name="connsiteY0" fmla="*/ 0 h 6858000"/>
                <a:gd name="connsiteX1" fmla="*/ 9339324 w 9339324"/>
                <a:gd name="connsiteY1" fmla="*/ 8021 h 6858000"/>
                <a:gd name="connsiteX2" fmla="*/ 3989282 w 9339324"/>
                <a:gd name="connsiteY2" fmla="*/ 6858000 h 6858000"/>
                <a:gd name="connsiteX3" fmla="*/ 0 w 9339324"/>
                <a:gd name="connsiteY3" fmla="*/ 6849761 h 6858000"/>
                <a:gd name="connsiteX4" fmla="*/ 2850292 w 9339324"/>
                <a:gd name="connsiteY4" fmla="*/ 0 h 6858000"/>
                <a:gd name="connsiteX0" fmla="*/ 0 w 9339324"/>
                <a:gd name="connsiteY0" fmla="*/ 8455 h 6849979"/>
                <a:gd name="connsiteX1" fmla="*/ 9339324 w 9339324"/>
                <a:gd name="connsiteY1" fmla="*/ 0 h 6849979"/>
                <a:gd name="connsiteX2" fmla="*/ 3989282 w 9339324"/>
                <a:gd name="connsiteY2" fmla="*/ 6849979 h 6849979"/>
                <a:gd name="connsiteX3" fmla="*/ 0 w 9339324"/>
                <a:gd name="connsiteY3" fmla="*/ 6841740 h 6849979"/>
                <a:gd name="connsiteX4" fmla="*/ 0 w 9339324"/>
                <a:gd name="connsiteY4" fmla="*/ 8455 h 6849979"/>
                <a:gd name="connsiteX0" fmla="*/ 0 w 9347562"/>
                <a:gd name="connsiteY0" fmla="*/ 218 h 6849979"/>
                <a:gd name="connsiteX1" fmla="*/ 9347562 w 9347562"/>
                <a:gd name="connsiteY1" fmla="*/ 0 h 6849979"/>
                <a:gd name="connsiteX2" fmla="*/ 3997520 w 9347562"/>
                <a:gd name="connsiteY2" fmla="*/ 6849979 h 6849979"/>
                <a:gd name="connsiteX3" fmla="*/ 8238 w 9347562"/>
                <a:gd name="connsiteY3" fmla="*/ 6841740 h 6849979"/>
                <a:gd name="connsiteX4" fmla="*/ 0 w 9347562"/>
                <a:gd name="connsiteY4" fmla="*/ 218 h 6849979"/>
                <a:gd name="connsiteX0" fmla="*/ 0 w 9347562"/>
                <a:gd name="connsiteY0" fmla="*/ 218 h 6849979"/>
                <a:gd name="connsiteX1" fmla="*/ 9347562 w 9347562"/>
                <a:gd name="connsiteY1" fmla="*/ 0 h 6849979"/>
                <a:gd name="connsiteX2" fmla="*/ 3997520 w 9347562"/>
                <a:gd name="connsiteY2" fmla="*/ 6849979 h 6849979"/>
                <a:gd name="connsiteX3" fmla="*/ 8238 w 9347562"/>
                <a:gd name="connsiteY3" fmla="*/ 6849969 h 6849979"/>
                <a:gd name="connsiteX4" fmla="*/ 0 w 9347562"/>
                <a:gd name="connsiteY4" fmla="*/ 218 h 6849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47562" h="6849979">
                  <a:moveTo>
                    <a:pt x="0" y="218"/>
                  </a:moveTo>
                  <a:lnTo>
                    <a:pt x="9347562" y="0"/>
                  </a:lnTo>
                  <a:lnTo>
                    <a:pt x="3997520" y="6849979"/>
                  </a:lnTo>
                  <a:lnTo>
                    <a:pt x="8238" y="6849969"/>
                  </a:lnTo>
                  <a:lnTo>
                    <a:pt x="0" y="218"/>
                  </a:lnTo>
                  <a:close/>
                </a:path>
              </a:pathLst>
            </a:cu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Freeform 8"/>
            <p:cNvSpPr/>
            <p:nvPr/>
          </p:nvSpPr>
          <p:spPr>
            <a:xfrm>
              <a:off x="4845136" y="2466975"/>
              <a:ext cx="2695575" cy="3124200"/>
            </a:xfrm>
            <a:custGeom>
              <a:avLst/>
              <a:gdLst>
                <a:gd name="connsiteX0" fmla="*/ 2514600 w 2695575"/>
                <a:gd name="connsiteY0" fmla="*/ 0 h 3124200"/>
                <a:gd name="connsiteX1" fmla="*/ 2695575 w 2695575"/>
                <a:gd name="connsiteY1" fmla="*/ 19050 h 3124200"/>
                <a:gd name="connsiteX2" fmla="*/ 200025 w 2695575"/>
                <a:gd name="connsiteY2" fmla="*/ 3124200 h 3124200"/>
                <a:gd name="connsiteX3" fmla="*/ 0 w 2695575"/>
                <a:gd name="connsiteY3" fmla="*/ 3124200 h 3124200"/>
                <a:gd name="connsiteX4" fmla="*/ 2514600 w 2695575"/>
                <a:gd name="connsiteY4" fmla="*/ 0 h 3124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5575" h="3124200">
                  <a:moveTo>
                    <a:pt x="2514600" y="0"/>
                  </a:moveTo>
                  <a:lnTo>
                    <a:pt x="2695575" y="19050"/>
                  </a:lnTo>
                  <a:lnTo>
                    <a:pt x="200025" y="3124200"/>
                  </a:lnTo>
                  <a:lnTo>
                    <a:pt x="0" y="3124200"/>
                  </a:lnTo>
                  <a:lnTo>
                    <a:pt x="2514600" y="0"/>
                  </a:lnTo>
                  <a:close/>
                </a:path>
              </a:pathLst>
            </a:custGeom>
            <a:gradFill>
              <a:gsLst>
                <a:gs pos="0">
                  <a:srgbClr val="E97225"/>
                </a:gs>
                <a:gs pos="100000">
                  <a:srgbClr val="E6592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pic>
        <p:nvPicPr>
          <p:cNvPr id="10" name="Picture 9"/>
          <p:cNvPicPr>
            <a:picLocks noChangeAspect="1"/>
          </p:cNvPicPr>
          <p:nvPr userDrawn="1"/>
        </p:nvPicPr>
        <p:blipFill>
          <a:blip r:embed="rId3"/>
          <a:stretch>
            <a:fillRect/>
          </a:stretch>
        </p:blipFill>
        <p:spPr>
          <a:xfrm>
            <a:off x="503982" y="488140"/>
            <a:ext cx="3877519" cy="809065"/>
          </a:xfrm>
          <a:prstGeom prst="rect">
            <a:avLst/>
          </a:prstGeom>
        </p:spPr>
      </p:pic>
      <p:sp>
        <p:nvSpPr>
          <p:cNvPr id="11" name="TextBox 10"/>
          <p:cNvSpPr txBox="1"/>
          <p:nvPr userDrawn="1"/>
        </p:nvSpPr>
        <p:spPr>
          <a:xfrm>
            <a:off x="503981" y="3297372"/>
            <a:ext cx="5495603" cy="923330"/>
          </a:xfrm>
          <a:prstGeom prst="rect">
            <a:avLst/>
          </a:prstGeom>
          <a:noFill/>
        </p:spPr>
        <p:txBody>
          <a:bodyPr wrap="square" rtlCol="0">
            <a:spAutoFit/>
          </a:bodyPr>
          <a:lstStyle/>
          <a:p>
            <a:r>
              <a:rPr lang="en-US" sz="5400">
                <a:solidFill>
                  <a:prstClr val="white"/>
                </a:solidFill>
                <a:latin typeface="Poppins" panose="02000000000000000000" pitchFamily="2" charset="0"/>
                <a:cs typeface="Poppins" panose="02000000000000000000" pitchFamily="2" charset="0"/>
              </a:rPr>
              <a:t>THANK YOU</a:t>
            </a:r>
          </a:p>
        </p:txBody>
      </p:sp>
    </p:spTree>
    <p:extLst>
      <p:ext uri="{BB962C8B-B14F-4D97-AF65-F5344CB8AC3E}">
        <p14:creationId xmlns:p14="http://schemas.microsoft.com/office/powerpoint/2010/main" val="329286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A1899A70-3933-4DBF-90EF-BA548142E849}" type="datetimeFigureOut">
              <a:rPr lang="en-IN" smtClean="0"/>
              <a:t>09-05-2019</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00C0149-F25E-4258-9874-E37679DDFFC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stackoverflow.com/" TargetMode="External"/><Relationship Id="rId2" Type="http://schemas.openxmlformats.org/officeDocument/2006/relationships/hyperlink" Target="http://jmlr.org/proceedings/papers/v28/denil13-supp.pdf" TargetMode="External"/><Relationship Id="rId1" Type="http://schemas.openxmlformats.org/officeDocument/2006/relationships/slideLayout" Target="../slideLayouts/slideLayout2.xml"/><Relationship Id="rId5" Type="http://schemas.openxmlformats.org/officeDocument/2006/relationships/hyperlink" Target="https://medium.com/" TargetMode="External"/><Relationship Id="rId4" Type="http://schemas.openxmlformats.org/officeDocument/2006/relationships/hyperlink" Target="https://www.analyticsvidhya.com/blo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233" y="4829908"/>
            <a:ext cx="8557847" cy="1873742"/>
          </a:xfrm>
        </p:spPr>
        <p:txBody>
          <a:bodyPr>
            <a:normAutofit fontScale="90000"/>
          </a:bodyPr>
          <a:lstStyle/>
          <a:p>
            <a:r>
              <a:rPr lang="en-IN" dirty="0">
                <a:solidFill>
                  <a:schemeClr val="tx1"/>
                </a:solidFill>
                <a:latin typeface="Arial" panose="020B0604020202020204" pitchFamily="34" charset="0"/>
                <a:cs typeface="Arial" panose="020B0604020202020204" pitchFamily="34" charset="0"/>
              </a:rPr>
              <a:t/>
            </a:r>
            <a:br>
              <a:rPr lang="en-IN" dirty="0">
                <a:solidFill>
                  <a:schemeClr val="tx1"/>
                </a:solidFill>
                <a:latin typeface="Arial" panose="020B0604020202020204" pitchFamily="34" charset="0"/>
                <a:cs typeface="Arial" panose="020B0604020202020204" pitchFamily="34" charset="0"/>
              </a:rPr>
            </a:br>
            <a:r>
              <a:rPr lang="en-IN" dirty="0">
                <a:solidFill>
                  <a:schemeClr val="tx1"/>
                </a:solidFill>
                <a:latin typeface="Arial" panose="020B0604020202020204" pitchFamily="34" charset="0"/>
                <a:cs typeface="Arial" panose="020B0604020202020204" pitchFamily="34" charset="0"/>
              </a:rPr>
              <a:t/>
            </a:r>
            <a:br>
              <a:rPr lang="en-IN" dirty="0">
                <a:solidFill>
                  <a:schemeClr val="tx1"/>
                </a:solidFill>
                <a:latin typeface="Arial" panose="020B0604020202020204" pitchFamily="34" charset="0"/>
                <a:cs typeface="Arial" panose="020B0604020202020204" pitchFamily="34" charset="0"/>
              </a:rPr>
            </a:br>
            <a:r>
              <a:rPr lang="en-IN" dirty="0">
                <a:solidFill>
                  <a:schemeClr val="tx1"/>
                </a:solidFill>
                <a:latin typeface="Arial" panose="020B0604020202020204" pitchFamily="34" charset="0"/>
                <a:cs typeface="Arial" panose="020B0604020202020204" pitchFamily="34" charset="0"/>
              </a:rPr>
              <a:t/>
            </a:r>
            <a:br>
              <a:rPr lang="en-IN" dirty="0">
                <a:solidFill>
                  <a:schemeClr val="tx1"/>
                </a:solidFill>
                <a:latin typeface="Arial" panose="020B0604020202020204" pitchFamily="34" charset="0"/>
                <a:cs typeface="Arial" panose="020B0604020202020204" pitchFamily="34" charset="0"/>
              </a:rPr>
            </a:br>
            <a:r>
              <a:rPr lang="en-IN" dirty="0">
                <a:solidFill>
                  <a:schemeClr val="tx1"/>
                </a:solidFill>
                <a:latin typeface="Arial" panose="020B0604020202020204" pitchFamily="34" charset="0"/>
                <a:cs typeface="Arial" panose="020B0604020202020204" pitchFamily="34" charset="0"/>
              </a:rPr>
              <a:t>Name   : BARUN KUMAR</a:t>
            </a:r>
            <a:br>
              <a:rPr lang="en-IN" dirty="0">
                <a:solidFill>
                  <a:schemeClr val="tx1"/>
                </a:solidFill>
                <a:latin typeface="Arial" panose="020B0604020202020204" pitchFamily="34" charset="0"/>
                <a:cs typeface="Arial" panose="020B0604020202020204" pitchFamily="34" charset="0"/>
              </a:rPr>
            </a:br>
            <a:r>
              <a:rPr lang="en-IN" dirty="0">
                <a:solidFill>
                  <a:schemeClr val="tx1"/>
                </a:solidFill>
                <a:latin typeface="Arial" panose="020B0604020202020204" pitchFamily="34" charset="0"/>
                <a:cs typeface="Arial" panose="020B0604020202020204" pitchFamily="34" charset="0"/>
              </a:rPr>
              <a:t>Roll no. : 18125760015</a:t>
            </a:r>
          </a:p>
        </p:txBody>
      </p:sp>
      <p:sp>
        <p:nvSpPr>
          <p:cNvPr id="2" name="TextBox 1"/>
          <p:cNvSpPr txBox="1"/>
          <p:nvPr/>
        </p:nvSpPr>
        <p:spPr>
          <a:xfrm>
            <a:off x="287383" y="195944"/>
            <a:ext cx="4650379" cy="707886"/>
          </a:xfrm>
          <a:prstGeom prst="rect">
            <a:avLst/>
          </a:prstGeom>
          <a:noFill/>
        </p:spPr>
        <p:txBody>
          <a:bodyPr wrap="square" rtlCol="0">
            <a:spAutoFit/>
          </a:bodyPr>
          <a:lstStyle/>
          <a:p>
            <a:r>
              <a:rPr lang="en-IN" sz="4000" b="1" dirty="0">
                <a:latin typeface="Arial" panose="020B0604020202020204" pitchFamily="34" charset="0"/>
                <a:cs typeface="Arial" panose="020B0604020202020204" pitchFamily="34" charset="0"/>
              </a:rPr>
              <a:t>Mid Term Report</a:t>
            </a:r>
          </a:p>
        </p:txBody>
      </p:sp>
    </p:spTree>
    <p:extLst>
      <p:ext uri="{BB962C8B-B14F-4D97-AF65-F5344CB8AC3E}">
        <p14:creationId xmlns:p14="http://schemas.microsoft.com/office/powerpoint/2010/main" val="40250592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1143" y="1450769"/>
            <a:ext cx="10554574" cy="3341229"/>
          </a:xfrm>
        </p:spPr>
        <p:txBody>
          <a:bodyPr>
            <a:normAutofit/>
          </a:bodyPr>
          <a:lstStyle/>
          <a:p>
            <a:pPr marL="0" indent="0">
              <a:buNone/>
            </a:pPr>
            <a:r>
              <a:rPr lang="en-US" sz="8000" b="1" dirty="0">
                <a:latin typeface="Arial Black" panose="020B0A04020102020204" pitchFamily="34" charset="0"/>
              </a:rPr>
              <a:t>Default of Credit        Card Clients</a:t>
            </a:r>
            <a:endParaRPr lang="en-US" sz="8000" dirty="0">
              <a:latin typeface="Arial Black" panose="020B0A04020102020204" pitchFamily="34" charset="0"/>
            </a:endParaRPr>
          </a:p>
        </p:txBody>
      </p:sp>
    </p:spTree>
    <p:extLst>
      <p:ext uri="{BB962C8B-B14F-4D97-AF65-F5344CB8AC3E}">
        <p14:creationId xmlns:p14="http://schemas.microsoft.com/office/powerpoint/2010/main" val="12934318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262" y="447188"/>
            <a:ext cx="10930736" cy="970450"/>
          </a:xfrm>
        </p:spPr>
        <p:txBody>
          <a:bodyPr/>
          <a:lstStyle/>
          <a:p>
            <a:r>
              <a:rPr lang="en-US" sz="5400" b="1" dirty="0">
                <a:latin typeface="Arial" panose="020B0604020202020204" pitchFamily="34" charset="0"/>
                <a:cs typeface="Arial" panose="020B0604020202020204" pitchFamily="34" charset="0"/>
              </a:rPr>
              <a:t>Problem</a:t>
            </a:r>
            <a:r>
              <a:rPr lang="en-US" sz="5400" dirty="0">
                <a:latin typeface="Arial" panose="020B0604020202020204" pitchFamily="34" charset="0"/>
                <a:cs typeface="Arial" panose="020B0604020202020204" pitchFamily="34" charset="0"/>
              </a:rPr>
              <a:t> </a:t>
            </a:r>
            <a:r>
              <a:rPr lang="en-US" sz="5400" b="1" dirty="0">
                <a:latin typeface="Arial" panose="020B0604020202020204" pitchFamily="34" charset="0"/>
                <a:cs typeface="Arial" panose="020B0604020202020204" pitchFamily="34" charset="0"/>
              </a:rPr>
              <a:t>Statement</a:t>
            </a:r>
          </a:p>
        </p:txBody>
      </p:sp>
      <p:sp>
        <p:nvSpPr>
          <p:cNvPr id="3" name="Content Placeholder 2"/>
          <p:cNvSpPr>
            <a:spLocks noGrp="1"/>
          </p:cNvSpPr>
          <p:nvPr>
            <p:ph idx="1"/>
          </p:nvPr>
        </p:nvSpPr>
        <p:spPr>
          <a:xfrm>
            <a:off x="296883" y="1488831"/>
            <a:ext cx="11507189" cy="5369168"/>
          </a:xfrm>
        </p:spPr>
        <p:txBody>
          <a:bodyPr>
            <a:normAutofit/>
          </a:bodyPr>
          <a:lstStyle/>
          <a:p>
            <a:r>
              <a:rPr lang="en-US" sz="2400" dirty="0">
                <a:latin typeface="Arial" panose="020B0604020202020204" pitchFamily="34" charset="0"/>
                <a:cs typeface="Arial" panose="020B0604020202020204" pitchFamily="34" charset="0"/>
              </a:rPr>
              <a:t>The problem finding the patterns in customer behaviors that help predicting if a customer have a chance of getting his credit card defaulted before the 6 months period. By applying the right algorithm and parameters we can get a prediction on the 5th month or even 4th month to know if the customer have high chance of getting his credit card defaulted</a:t>
            </a:r>
          </a:p>
          <a:p>
            <a:r>
              <a:rPr lang="en-US" sz="2400" dirty="0">
                <a:latin typeface="Arial" panose="020B0604020202020204" pitchFamily="34" charset="0"/>
                <a:cs typeface="Arial" panose="020B0604020202020204" pitchFamily="34" charset="0"/>
              </a:rPr>
              <a:t>This research aimed at the case of customers default payments in Taiwan and compares the predictive accuracy of probability of default among six data mining methods. </a:t>
            </a:r>
          </a:p>
        </p:txBody>
      </p:sp>
    </p:spTree>
    <p:extLst>
      <p:ext uri="{BB962C8B-B14F-4D97-AF65-F5344CB8AC3E}">
        <p14:creationId xmlns:p14="http://schemas.microsoft.com/office/powerpoint/2010/main" val="29964860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6" y="447188"/>
            <a:ext cx="10966362" cy="970450"/>
          </a:xfrm>
        </p:spPr>
        <p:txBody>
          <a:bodyPr/>
          <a:lstStyle/>
          <a:p>
            <a:r>
              <a:rPr lang="en-US" sz="5400" b="1" dirty="0">
                <a:latin typeface="Arial" panose="020B0604020202020204" pitchFamily="34" charset="0"/>
                <a:cs typeface="Arial" panose="020B0604020202020204" pitchFamily="34" charset="0"/>
              </a:rPr>
              <a:t>Business</a:t>
            </a:r>
            <a:r>
              <a:rPr lang="en-US" sz="5400" dirty="0">
                <a:latin typeface="Arial" panose="020B0604020202020204" pitchFamily="34" charset="0"/>
                <a:cs typeface="Arial" panose="020B0604020202020204" pitchFamily="34" charset="0"/>
              </a:rPr>
              <a:t> </a:t>
            </a:r>
            <a:r>
              <a:rPr lang="en-US" sz="5400" b="1" dirty="0">
                <a:latin typeface="Arial" panose="020B0604020202020204" pitchFamily="34" charset="0"/>
                <a:cs typeface="Arial" panose="020B0604020202020204" pitchFamily="34" charset="0"/>
              </a:rPr>
              <a:t>Understanding</a:t>
            </a:r>
          </a:p>
        </p:txBody>
      </p:sp>
      <p:sp>
        <p:nvSpPr>
          <p:cNvPr id="3" name="Content Placeholder 2"/>
          <p:cNvSpPr>
            <a:spLocks noGrp="1"/>
          </p:cNvSpPr>
          <p:nvPr>
            <p:ph idx="1"/>
          </p:nvPr>
        </p:nvSpPr>
        <p:spPr>
          <a:xfrm>
            <a:off x="320634" y="1477108"/>
            <a:ext cx="11871365" cy="5122984"/>
          </a:xfrm>
        </p:spPr>
        <p:txBody>
          <a:bodyPr>
            <a:normAutofit/>
          </a:bodyPr>
          <a:lstStyle/>
          <a:p>
            <a:r>
              <a:rPr lang="en-US" sz="2400" dirty="0">
                <a:latin typeface="Arial" panose="020B0604020202020204" pitchFamily="34" charset="0"/>
                <a:cs typeface="Arial" panose="020B0604020202020204" pitchFamily="34" charset="0"/>
              </a:rPr>
              <a:t>Banks consider the denial of credit applications to risky customers an important priority in order to avoid undesirable decisions and consequences, like granting a customer a credit limit increase to risky customers. For example, a customer who has skipped making the minimum payment for several months. In such case, the credit card should be set to default after the customer has failed to make a payment for 6 months in a row. A credit default is a credit status applied when a customer fails to make the minimum payment for 6 months.</a:t>
            </a:r>
          </a:p>
          <a:p>
            <a:r>
              <a:rPr lang="en-US" sz="2400" dirty="0">
                <a:latin typeface="Arial" panose="020B0604020202020204" pitchFamily="34" charset="0"/>
                <a:cs typeface="Arial" panose="020B0604020202020204" pitchFamily="34" charset="0"/>
              </a:rPr>
              <a:t>Risk Management is important field in Banking, and when we are talking about credit cards, credit risk management will be the first line of defense for any credit decision. Performing credit risk management correctly allows banks to minimize the risk associated with credit cards.</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97731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1" y="274638"/>
            <a:ext cx="11160369" cy="1143000"/>
          </a:xfrm>
        </p:spPr>
        <p:txBody>
          <a:bodyPr/>
          <a:lstStyle/>
          <a:p>
            <a:r>
              <a:rPr lang="en-US" sz="5400" b="1" dirty="0">
                <a:latin typeface="Arial" panose="020B0604020202020204" pitchFamily="34" charset="0"/>
                <a:cs typeface="Arial" panose="020B0604020202020204" pitchFamily="34" charset="0"/>
              </a:rPr>
              <a:t>Approach</a:t>
            </a:r>
          </a:p>
        </p:txBody>
      </p:sp>
      <p:sp>
        <p:nvSpPr>
          <p:cNvPr id="3" name="Content Placeholder 2"/>
          <p:cNvSpPr>
            <a:spLocks noGrp="1"/>
          </p:cNvSpPr>
          <p:nvPr>
            <p:ph idx="1"/>
          </p:nvPr>
        </p:nvSpPr>
        <p:spPr>
          <a:xfrm>
            <a:off x="249382" y="1606061"/>
            <a:ext cx="11744696" cy="4937243"/>
          </a:xfrm>
        </p:spPr>
        <p:txBody>
          <a:bodyPr>
            <a:normAutofit/>
          </a:bodyPr>
          <a:lstStyle/>
          <a:p>
            <a:r>
              <a:rPr lang="en-US" sz="2400" dirty="0">
                <a:latin typeface="Arial" panose="020B0604020202020204" pitchFamily="34" charset="0"/>
                <a:cs typeface="Arial" panose="020B0604020202020204" pitchFamily="34" charset="0"/>
              </a:rPr>
              <a:t>The Goal is to train a model with the capability to minimize the risk by making predictions based on the dataset. </a:t>
            </a:r>
          </a:p>
          <a:p>
            <a:r>
              <a:rPr lang="en-US" sz="2400" dirty="0">
                <a:latin typeface="Arial" panose="020B0604020202020204" pitchFamily="34" charset="0"/>
                <a:cs typeface="Arial" panose="020B0604020202020204" pitchFamily="34" charset="0"/>
              </a:rPr>
              <a:t>The model predicts whether a late-paying customer will only be late for a limited duration (1 or 2 months), or if this customer is predicted not to make a payment at all. </a:t>
            </a:r>
          </a:p>
          <a:p>
            <a:r>
              <a:rPr lang="en-US" sz="2400" dirty="0">
                <a:latin typeface="Arial" panose="020B0604020202020204" pitchFamily="34" charset="0"/>
                <a:cs typeface="Arial" panose="020B0604020202020204" pitchFamily="34" charset="0"/>
              </a:rPr>
              <a:t>This makes it a classification problem.</a:t>
            </a:r>
          </a:p>
        </p:txBody>
      </p:sp>
    </p:spTree>
    <p:extLst>
      <p:ext uri="{BB962C8B-B14F-4D97-AF65-F5344CB8AC3E}">
        <p14:creationId xmlns:p14="http://schemas.microsoft.com/office/powerpoint/2010/main" val="25625447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5" y="447188"/>
            <a:ext cx="11135813" cy="970450"/>
          </a:xfrm>
        </p:spPr>
        <p:txBody>
          <a:bodyPr/>
          <a:lstStyle/>
          <a:p>
            <a:r>
              <a:rPr lang="en-US" sz="5400" b="1" dirty="0">
                <a:latin typeface="Arial" panose="020B0604020202020204" pitchFamily="34" charset="0"/>
                <a:cs typeface="Arial" panose="020B0604020202020204" pitchFamily="34" charset="0"/>
              </a:rPr>
              <a:t>Data Understanding</a:t>
            </a:r>
          </a:p>
        </p:txBody>
      </p:sp>
      <p:sp>
        <p:nvSpPr>
          <p:cNvPr id="3" name="Content Placeholder 2"/>
          <p:cNvSpPr>
            <a:spLocks noGrp="1"/>
          </p:cNvSpPr>
          <p:nvPr>
            <p:ph idx="1"/>
          </p:nvPr>
        </p:nvSpPr>
        <p:spPr>
          <a:xfrm>
            <a:off x="142505" y="1570892"/>
            <a:ext cx="11946576" cy="5106999"/>
          </a:xfrm>
        </p:spPr>
        <p:txBody>
          <a:bodyPr>
            <a:noAutofit/>
          </a:bodyPr>
          <a:lstStyle/>
          <a:p>
            <a:r>
              <a:rPr lang="en-US" sz="2400" dirty="0">
                <a:latin typeface="Arial" panose="020B0604020202020204" pitchFamily="34" charset="0"/>
                <a:cs typeface="Arial" panose="020B0604020202020204" pitchFamily="34" charset="0"/>
              </a:rPr>
              <a:t>The dataset that will be used for this project is the “Default of Credit Card Clients Dataset. </a:t>
            </a:r>
          </a:p>
          <a:p>
            <a:r>
              <a:rPr lang="en-US" sz="2400" dirty="0">
                <a:latin typeface="Arial" panose="020B0604020202020204" pitchFamily="34" charset="0"/>
                <a:cs typeface="Arial" panose="020B0604020202020204" pitchFamily="34" charset="0"/>
              </a:rPr>
              <a:t>Dataset portrays information about a bank’s credit card clients along with their marital status, their balance limit, education, when they paid respective bill amounts.</a:t>
            </a:r>
          </a:p>
          <a:p>
            <a:r>
              <a:rPr lang="en-US" sz="2400" dirty="0">
                <a:latin typeface="Arial" panose="020B0604020202020204" pitchFamily="34" charset="0"/>
                <a:cs typeface="Arial" panose="020B0604020202020204" pitchFamily="34" charset="0"/>
              </a:rPr>
              <a:t>Size: 30000 instances, 23 predictors and a response variable.</a:t>
            </a:r>
          </a:p>
          <a:p>
            <a:r>
              <a:rPr lang="en-US" sz="2400" dirty="0">
                <a:latin typeface="Arial" panose="020B0604020202020204" pitchFamily="34" charset="0"/>
                <a:cs typeface="Arial" panose="020B0604020202020204" pitchFamily="34" charset="0"/>
              </a:rPr>
              <a:t>No missing values</a:t>
            </a:r>
          </a:p>
          <a:p>
            <a:r>
              <a:rPr lang="en-US" sz="2400" dirty="0">
                <a:latin typeface="Arial" panose="020B0604020202020204" pitchFamily="34" charset="0"/>
                <a:cs typeface="Arial" panose="020B0604020202020204" pitchFamily="34" charset="0"/>
              </a:rPr>
              <a:t>Error in the naming of variable Pay_0, it was changed to Pay_1</a:t>
            </a:r>
          </a:p>
          <a:p>
            <a:r>
              <a:rPr lang="en-US" sz="2400" dirty="0">
                <a:latin typeface="Arial" panose="020B0604020202020204" pitchFamily="34" charset="0"/>
                <a:cs typeface="Arial" panose="020B0604020202020204" pitchFamily="34" charset="0"/>
              </a:rPr>
              <a:t>Certain numeric attributes were converted to nominal.</a:t>
            </a:r>
          </a:p>
          <a:p>
            <a:pPr marL="400050" lvl="1" indent="0">
              <a:buNone/>
            </a:pPr>
            <a:r>
              <a:rPr lang="en-US" dirty="0">
                <a:latin typeface="Arial" panose="020B0604020202020204" pitchFamily="34" charset="0"/>
                <a:cs typeface="Arial" panose="020B0604020202020204" pitchFamily="34" charset="0"/>
              </a:rPr>
              <a:t>Nominal attributes include: SEX, EDUCATION, MARRIAGE, PAY_1 to Pay_6 &amp; default payment next month</a:t>
            </a:r>
          </a:p>
          <a:p>
            <a:r>
              <a:rPr lang="en-US" sz="2400" dirty="0">
                <a:latin typeface="Arial" panose="020B0604020202020204" pitchFamily="34" charset="0"/>
                <a:cs typeface="Arial" panose="020B0604020202020204" pitchFamily="34" charset="0"/>
              </a:rPr>
              <a:t>In the education variable, the values ‘0,4,5,6’ are combined to one value as value ‘4’</a:t>
            </a:r>
          </a:p>
        </p:txBody>
      </p:sp>
    </p:spTree>
    <p:extLst>
      <p:ext uri="{BB962C8B-B14F-4D97-AF65-F5344CB8AC3E}">
        <p14:creationId xmlns:p14="http://schemas.microsoft.com/office/powerpoint/2010/main" val="7843374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127" y="164123"/>
            <a:ext cx="11970327" cy="6604812"/>
          </a:xfrm>
        </p:spPr>
        <p:txBody>
          <a:bodyPr>
            <a:normAutofit/>
          </a:bodyPr>
          <a:lstStyle/>
          <a:p>
            <a:r>
              <a:rPr lang="en-US" sz="2400" dirty="0">
                <a:latin typeface="Arial" panose="020B0604020202020204" pitchFamily="34" charset="0"/>
                <a:cs typeface="Arial" panose="020B0604020202020204" pitchFamily="34" charset="0"/>
              </a:rPr>
              <a:t>This research employed a binary variable, default payment (Yes = 1, No = 0), as the response variable. This study reviewed the literature and used the following 23 variables as explanatory variables: </a:t>
            </a:r>
          </a:p>
          <a:p>
            <a:r>
              <a:rPr lang="en-US" sz="2400" dirty="0">
                <a:latin typeface="Arial" panose="020B0604020202020204" pitchFamily="34" charset="0"/>
                <a:cs typeface="Arial" panose="020B0604020202020204" pitchFamily="34" charset="0"/>
              </a:rPr>
              <a:t>X1: Amount of the given credit (NT dollar): it includes both the individual consumer credit and his/her family (supplementary) credit. </a:t>
            </a:r>
          </a:p>
          <a:p>
            <a:r>
              <a:rPr lang="en-US" sz="2400" dirty="0">
                <a:latin typeface="Arial" panose="020B0604020202020204" pitchFamily="34" charset="0"/>
                <a:cs typeface="Arial" panose="020B0604020202020204" pitchFamily="34" charset="0"/>
              </a:rPr>
              <a:t>X2: Gender (1 = male; 2 = female). </a:t>
            </a:r>
          </a:p>
          <a:p>
            <a:r>
              <a:rPr lang="en-US" sz="2400" dirty="0">
                <a:latin typeface="Arial" panose="020B0604020202020204" pitchFamily="34" charset="0"/>
                <a:cs typeface="Arial" panose="020B0604020202020204" pitchFamily="34" charset="0"/>
              </a:rPr>
              <a:t>X3: Education (1 = graduate school; 2 = university; 3 = high school; 4 = others). </a:t>
            </a:r>
          </a:p>
          <a:p>
            <a:r>
              <a:rPr lang="en-US" sz="2400" dirty="0">
                <a:latin typeface="Arial" panose="020B0604020202020204" pitchFamily="34" charset="0"/>
                <a:cs typeface="Arial" panose="020B0604020202020204" pitchFamily="34" charset="0"/>
              </a:rPr>
              <a:t>X4: Marital status (1 = married; 2 = single; 3 = others). </a:t>
            </a:r>
          </a:p>
          <a:p>
            <a:r>
              <a:rPr lang="en-US" sz="2400" dirty="0">
                <a:latin typeface="Arial" panose="020B0604020202020204" pitchFamily="34" charset="0"/>
                <a:cs typeface="Arial" panose="020B0604020202020204" pitchFamily="34" charset="0"/>
              </a:rPr>
              <a:t>X5: Age (year). </a:t>
            </a:r>
          </a:p>
        </p:txBody>
      </p:sp>
    </p:spTree>
    <p:extLst>
      <p:ext uri="{BB962C8B-B14F-4D97-AF65-F5344CB8AC3E}">
        <p14:creationId xmlns:p14="http://schemas.microsoft.com/office/powerpoint/2010/main" val="4680849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99293"/>
            <a:ext cx="12192000" cy="6658708"/>
          </a:xfrm>
        </p:spPr>
        <p:txBody>
          <a:bodyPr>
            <a:normAutofit/>
          </a:bodyPr>
          <a:lstStyle/>
          <a:p>
            <a:r>
              <a:rPr lang="en-US" sz="2400" dirty="0">
                <a:latin typeface="Arial" panose="020B0604020202020204" pitchFamily="34" charset="0"/>
                <a:cs typeface="Arial" panose="020B0604020202020204" pitchFamily="34" charset="0"/>
              </a:rPr>
              <a:t>X6 - X11: History of past payment. We tracked the past monthly payment records (from April to September, 2005) as follows: </a:t>
            </a:r>
          </a:p>
          <a:p>
            <a:pPr marL="274320" lvl="1" indent="0">
              <a:buNone/>
            </a:pPr>
            <a:r>
              <a:rPr lang="en-US" dirty="0">
                <a:latin typeface="Arial" panose="020B0604020202020204" pitchFamily="34" charset="0"/>
                <a:cs typeface="Arial" panose="020B0604020202020204" pitchFamily="34" charset="0"/>
              </a:rPr>
              <a:t>X6 = the repayment status in September, 2005; </a:t>
            </a:r>
          </a:p>
          <a:p>
            <a:pPr marL="274320" lvl="1" indent="0">
              <a:buNone/>
            </a:pPr>
            <a:r>
              <a:rPr lang="en-US" dirty="0">
                <a:latin typeface="Arial" panose="020B0604020202020204" pitchFamily="34" charset="0"/>
                <a:cs typeface="Arial" panose="020B0604020202020204" pitchFamily="34" charset="0"/>
              </a:rPr>
              <a:t>X7 = the repayment status in August, 2005; . . .;</a:t>
            </a:r>
          </a:p>
          <a:p>
            <a:pPr marL="274320" lvl="1" indent="0">
              <a:buNone/>
            </a:pPr>
            <a:r>
              <a:rPr lang="en-US" dirty="0">
                <a:latin typeface="Arial" panose="020B0604020202020204" pitchFamily="34" charset="0"/>
                <a:cs typeface="Arial" panose="020B0604020202020204" pitchFamily="34" charset="0"/>
              </a:rPr>
              <a:t>X11 = the repayment status in April, 2005. </a:t>
            </a:r>
          </a:p>
          <a:p>
            <a:pPr marL="274320" lvl="1" indent="0">
              <a:buNone/>
            </a:pPr>
            <a:r>
              <a:rPr lang="en-US" dirty="0">
                <a:latin typeface="Arial" panose="020B0604020202020204" pitchFamily="34" charset="0"/>
                <a:cs typeface="Arial" panose="020B0604020202020204" pitchFamily="34" charset="0"/>
              </a:rPr>
              <a:t>The measurement scale for the repayment status is: -1 = pay duly; 1 = payment delay for one month; 2 = payment delay for two months; . . .; 8 = payment delay for eight months; 9 = payment delay for nine months and above. </a:t>
            </a:r>
          </a:p>
          <a:p>
            <a:pPr marL="274320" lvl="1" indent="0">
              <a:buNone/>
            </a:pPr>
            <a:endParaRPr lang="en-US"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X12-X17: Amount of bill statement (NT dollar). X12 = amount of bill statement in September, 2005; X13 = amount of bill statement in August, 2005; . . .; X17 = amount of bill statement in April, 2005. </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X18-X23: Amount of previous payment (NT dollar). X18 = amount paid in September, 2005; X19 = amount paid in August, 2005; . . .;X23 = amount paid in April, 2005.</a:t>
            </a:r>
          </a:p>
        </p:txBody>
      </p:sp>
    </p:spTree>
    <p:extLst>
      <p:ext uri="{BB962C8B-B14F-4D97-AF65-F5344CB8AC3E}">
        <p14:creationId xmlns:p14="http://schemas.microsoft.com/office/powerpoint/2010/main" val="25164334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08" y="89911"/>
            <a:ext cx="10233891" cy="1267834"/>
          </a:xfrm>
        </p:spPr>
        <p:txBody>
          <a:bodyPr/>
          <a:lstStyle/>
          <a:p>
            <a:r>
              <a:rPr lang="en-US" sz="5400" b="1" dirty="0">
                <a:latin typeface="Arial" panose="020B0604020202020204" pitchFamily="34" charset="0"/>
                <a:cs typeface="Arial" panose="020B0604020202020204" pitchFamily="34" charset="0"/>
              </a:rPr>
              <a:t>Dataset Summary</a:t>
            </a:r>
          </a:p>
        </p:txBody>
      </p:sp>
      <p:pic>
        <p:nvPicPr>
          <p:cNvPr id="7" name="Content Placeholder 6">
            <a:extLst>
              <a:ext uri="{FF2B5EF4-FFF2-40B4-BE49-F238E27FC236}">
                <a16:creationId xmlns="" xmlns:a16="http://schemas.microsoft.com/office/drawing/2014/main" id="{4C4A879D-BDC1-43A9-AAB7-520558B4AE2E}"/>
              </a:ext>
            </a:extLst>
          </p:cNvPr>
          <p:cNvPicPr>
            <a:picLocks noGrp="1" noChangeAspect="1"/>
          </p:cNvPicPr>
          <p:nvPr>
            <p:ph sz="quarter" idx="1"/>
          </p:nvPr>
        </p:nvPicPr>
        <p:blipFill>
          <a:blip r:embed="rId2"/>
          <a:stretch>
            <a:fillRect/>
          </a:stretch>
        </p:blipFill>
        <p:spPr>
          <a:xfrm>
            <a:off x="360218" y="1422400"/>
            <a:ext cx="11286837" cy="5246255"/>
          </a:xfrm>
          <a:prstGeom prst="rect">
            <a:avLst/>
          </a:prstGeom>
        </p:spPr>
      </p:pic>
    </p:spTree>
    <p:extLst>
      <p:ext uri="{BB962C8B-B14F-4D97-AF65-F5344CB8AC3E}">
        <p14:creationId xmlns:p14="http://schemas.microsoft.com/office/powerpoint/2010/main" val="20274371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09DFB992-1F11-4ACF-A2D2-F29A21626B36}"/>
              </a:ext>
            </a:extLst>
          </p:cNvPr>
          <p:cNvPicPr>
            <a:picLocks noGrp="1" noChangeAspect="1"/>
          </p:cNvPicPr>
          <p:nvPr>
            <p:ph sz="quarter" idx="1"/>
          </p:nvPr>
        </p:nvPicPr>
        <p:blipFill>
          <a:blip r:embed="rId2"/>
          <a:stretch>
            <a:fillRect/>
          </a:stretch>
        </p:blipFill>
        <p:spPr>
          <a:xfrm>
            <a:off x="267855" y="147783"/>
            <a:ext cx="11674763" cy="6456218"/>
          </a:xfrm>
          <a:prstGeom prst="rect">
            <a:avLst/>
          </a:prstGeom>
        </p:spPr>
      </p:pic>
    </p:spTree>
    <p:extLst>
      <p:ext uri="{BB962C8B-B14F-4D97-AF65-F5344CB8AC3E}">
        <p14:creationId xmlns:p14="http://schemas.microsoft.com/office/powerpoint/2010/main" val="33882528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9229A81D-B218-4E96-ADCB-9AC056EB8155}"/>
              </a:ext>
            </a:extLst>
          </p:cNvPr>
          <p:cNvPicPr>
            <a:picLocks noGrp="1" noChangeAspect="1"/>
          </p:cNvPicPr>
          <p:nvPr>
            <p:ph sz="quarter" idx="1"/>
          </p:nvPr>
        </p:nvPicPr>
        <p:blipFill>
          <a:blip r:embed="rId2"/>
          <a:stretch>
            <a:fillRect/>
          </a:stretch>
        </p:blipFill>
        <p:spPr>
          <a:xfrm>
            <a:off x="258618" y="92364"/>
            <a:ext cx="11730182" cy="6502400"/>
          </a:xfrm>
          <a:prstGeom prst="rect">
            <a:avLst/>
          </a:prstGeom>
        </p:spPr>
      </p:pic>
    </p:spTree>
    <p:extLst>
      <p:ext uri="{BB962C8B-B14F-4D97-AF65-F5344CB8AC3E}">
        <p14:creationId xmlns:p14="http://schemas.microsoft.com/office/powerpoint/2010/main" val="39631094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5" y="187570"/>
            <a:ext cx="11336215" cy="1512276"/>
          </a:xfrm>
        </p:spPr>
        <p:txBody>
          <a:bodyPr>
            <a:normAutofit fontScale="90000"/>
          </a:bodyPr>
          <a:lstStyle/>
          <a:p>
            <a:r>
              <a:rPr lang="en-US" sz="5400" b="1" dirty="0">
                <a:latin typeface="Arial" panose="020B0604020202020204" pitchFamily="34" charset="0"/>
                <a:cs typeface="Arial" panose="020B0604020202020204" pitchFamily="34" charset="0"/>
              </a:rPr>
              <a:t>Exploratory Data </a:t>
            </a:r>
            <a:r>
              <a:rPr lang="en-US" sz="5400" b="1" dirty="0" smtClean="0">
                <a:latin typeface="Arial" panose="020B0604020202020204" pitchFamily="34" charset="0"/>
                <a:cs typeface="Arial" panose="020B0604020202020204" pitchFamily="34" charset="0"/>
              </a:rPr>
              <a:t>Analysis &amp; Data Visualization</a:t>
            </a:r>
            <a:endParaRPr lang="en-US" sz="54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77181" y="1780213"/>
            <a:ext cx="10554574" cy="3636511"/>
          </a:xfrm>
        </p:spPr>
        <p:txBody>
          <a:bodyPr>
            <a:normAutofit/>
          </a:bodyPr>
          <a:lstStyle/>
          <a:p>
            <a:r>
              <a:rPr lang="en-US" sz="2400" dirty="0"/>
              <a:t>All attributes have numeric set of values</a:t>
            </a:r>
          </a:p>
          <a:p>
            <a:r>
              <a:rPr lang="en-US" sz="2400" dirty="0"/>
              <a:t>The dataset is of the form (n&gt;p) where n= number</a:t>
            </a:r>
          </a:p>
          <a:p>
            <a:pPr marL="0" indent="0">
              <a:buNone/>
            </a:pPr>
            <a:r>
              <a:rPr lang="en-US" sz="2400" dirty="0"/>
              <a:t> of instances and p= number of attributes</a:t>
            </a:r>
            <a:r>
              <a:rPr lang="en-US" sz="2400" dirty="0" smtClean="0"/>
              <a:t>.</a:t>
            </a:r>
            <a:endParaRPr lang="en-US" sz="2400" dirty="0"/>
          </a:p>
        </p:txBody>
      </p:sp>
    </p:spTree>
    <p:extLst>
      <p:ext uri="{BB962C8B-B14F-4D97-AF65-F5344CB8AC3E}">
        <p14:creationId xmlns:p14="http://schemas.microsoft.com/office/powerpoint/2010/main" val="2623577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945915" y="395286"/>
            <a:ext cx="3345840" cy="1398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1220" y="387961"/>
            <a:ext cx="3906348" cy="1405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42925" y="559100"/>
            <a:ext cx="3713601" cy="1200329"/>
          </a:xfrm>
          <a:prstGeom prst="rect">
            <a:avLst/>
          </a:prstGeom>
        </p:spPr>
        <p:txBody>
          <a:bodyPr wrap="square">
            <a:spAutoFit/>
          </a:bodyPr>
          <a:lstStyle/>
          <a:p>
            <a:r>
              <a:rPr lang="en-US" dirty="0" smtClean="0"/>
              <a:t>Number of female credit card holder is more than male, </a:t>
            </a:r>
          </a:p>
          <a:p>
            <a:r>
              <a:rPr lang="en-US" dirty="0" smtClean="0"/>
              <a:t>Also proportion of default is more in female (1 – m ; 2 - f)</a:t>
            </a:r>
            <a:endParaRPr lang="en-US" dirty="0"/>
          </a:p>
        </p:txBody>
      </p:sp>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94" y="2328496"/>
            <a:ext cx="3952875" cy="4177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8893" y="2145323"/>
            <a:ext cx="7151076" cy="4478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19972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759436" y="1305132"/>
            <a:ext cx="3716581" cy="2425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436" y="3845169"/>
            <a:ext cx="3695333" cy="26728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353941" y="289469"/>
            <a:ext cx="11122951" cy="1015663"/>
          </a:xfrm>
          <a:prstGeom prst="rect">
            <a:avLst/>
          </a:prstGeom>
        </p:spPr>
        <p:txBody>
          <a:bodyPr wrap="square">
            <a:spAutoFit/>
          </a:bodyPr>
          <a:lstStyle/>
          <a:p>
            <a:r>
              <a:rPr lang="en-US" sz="2000" dirty="0"/>
              <a:t>From </a:t>
            </a:r>
            <a:r>
              <a:rPr lang="en-US" sz="2000" dirty="0" smtClean="0"/>
              <a:t>plot, </a:t>
            </a:r>
            <a:r>
              <a:rPr lang="en-US" sz="2000" dirty="0"/>
              <a:t>it is clear that those people who are </a:t>
            </a:r>
            <a:r>
              <a:rPr lang="en-US" sz="2000" dirty="0" smtClean="0"/>
              <a:t>graduates have </a:t>
            </a:r>
            <a:r>
              <a:rPr lang="en-US" sz="2000" dirty="0"/>
              <a:t>less default </a:t>
            </a:r>
            <a:r>
              <a:rPr lang="en-US" sz="2000" dirty="0" smtClean="0"/>
              <a:t>payment proportion </a:t>
            </a:r>
            <a:r>
              <a:rPr lang="en-US" sz="2000" dirty="0" err="1"/>
              <a:t>wrt</a:t>
            </a:r>
            <a:r>
              <a:rPr lang="en-US" sz="2000" dirty="0"/>
              <a:t> university </a:t>
            </a:r>
            <a:r>
              <a:rPr lang="en-US" sz="2000" dirty="0" smtClean="0"/>
              <a:t>and </a:t>
            </a:r>
            <a:r>
              <a:rPr lang="en-US" sz="2000" dirty="0"/>
              <a:t>high school students </a:t>
            </a:r>
            <a:r>
              <a:rPr lang="en-US" sz="2000" dirty="0" smtClean="0"/>
              <a:t>(</a:t>
            </a:r>
            <a:r>
              <a:rPr lang="en-US" sz="2000" dirty="0">
                <a:latin typeface="Arial" panose="020B0604020202020204" pitchFamily="34" charset="0"/>
                <a:cs typeface="Arial" panose="020B0604020202020204" pitchFamily="34" charset="0"/>
              </a:rPr>
              <a:t>1 = graduate school; 2 = university; 3 = high school; 4 = </a:t>
            </a:r>
            <a:r>
              <a:rPr lang="en-US" sz="2000" dirty="0" smtClean="0">
                <a:latin typeface="Arial" panose="020B0604020202020204" pitchFamily="34" charset="0"/>
                <a:cs typeface="Arial" panose="020B0604020202020204" pitchFamily="34" charset="0"/>
              </a:rPr>
              <a:t>others)</a:t>
            </a:r>
            <a:endParaRPr lang="en-US" sz="2000"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2548" y="1043354"/>
            <a:ext cx="6396406" cy="2686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2548" y="3845169"/>
            <a:ext cx="6208837" cy="2829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34879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1" y="274638"/>
            <a:ext cx="11160369" cy="897670"/>
          </a:xfrm>
        </p:spPr>
        <p:txBody>
          <a:bodyPr>
            <a:normAutofit/>
          </a:bodyPr>
          <a:lstStyle/>
          <a:p>
            <a:r>
              <a:rPr lang="en-US" sz="2000" dirty="0">
                <a:solidFill>
                  <a:schemeClr val="tx1"/>
                </a:solidFill>
                <a:latin typeface="Arial" panose="020B0604020202020204" pitchFamily="34" charset="0"/>
                <a:cs typeface="Arial" panose="020B0604020202020204" pitchFamily="34" charset="0"/>
              </a:rPr>
              <a:t>From </a:t>
            </a:r>
            <a:r>
              <a:rPr lang="en-US" sz="2000" dirty="0" smtClean="0">
                <a:solidFill>
                  <a:schemeClr val="tx1"/>
                </a:solidFill>
                <a:latin typeface="Arial" panose="020B0604020202020204" pitchFamily="34" charset="0"/>
                <a:cs typeface="Arial" panose="020B0604020202020204" pitchFamily="34" charset="0"/>
              </a:rPr>
              <a:t>plot, </a:t>
            </a:r>
            <a:r>
              <a:rPr lang="en-US" sz="2000" dirty="0">
                <a:solidFill>
                  <a:schemeClr val="tx1"/>
                </a:solidFill>
                <a:latin typeface="Arial" panose="020B0604020202020204" pitchFamily="34" charset="0"/>
                <a:cs typeface="Arial" panose="020B0604020202020204" pitchFamily="34" charset="0"/>
              </a:rPr>
              <a:t>it is clear that those people who have marital status single have less default payment </a:t>
            </a:r>
            <a:r>
              <a:rPr lang="en-US" sz="2000" dirty="0" err="1">
                <a:solidFill>
                  <a:schemeClr val="tx1"/>
                </a:solidFill>
                <a:latin typeface="Arial" panose="020B0604020202020204" pitchFamily="34" charset="0"/>
                <a:cs typeface="Arial" panose="020B0604020202020204" pitchFamily="34" charset="0"/>
              </a:rPr>
              <a:t>wrt</a:t>
            </a:r>
            <a:r>
              <a:rPr lang="en-US" sz="2000" dirty="0">
                <a:solidFill>
                  <a:schemeClr val="tx1"/>
                </a:solidFill>
                <a:latin typeface="Arial" panose="020B0604020202020204" pitchFamily="34" charset="0"/>
                <a:cs typeface="Arial" panose="020B0604020202020204" pitchFamily="34" charset="0"/>
              </a:rPr>
              <a:t> married status </a:t>
            </a:r>
            <a:r>
              <a:rPr lang="en-US" sz="2000" dirty="0" smtClean="0">
                <a:solidFill>
                  <a:schemeClr val="tx1"/>
                </a:solidFill>
                <a:latin typeface="Arial" panose="020B0604020202020204" pitchFamily="34" charset="0"/>
                <a:cs typeface="Arial" panose="020B0604020202020204" pitchFamily="34" charset="0"/>
              </a:rPr>
              <a:t>people (</a:t>
            </a:r>
            <a:r>
              <a:rPr lang="en-US" sz="2000" dirty="0">
                <a:solidFill>
                  <a:schemeClr val="tx1"/>
                </a:solidFill>
                <a:latin typeface="Arial" panose="020B0604020202020204" pitchFamily="34" charset="0"/>
                <a:cs typeface="Arial" panose="020B0604020202020204" pitchFamily="34" charset="0"/>
              </a:rPr>
              <a:t>1 = married; 2 = single; 3 = others</a:t>
            </a:r>
            <a:r>
              <a:rPr lang="en-US" sz="2000" dirty="0" smtClean="0">
                <a:solidFill>
                  <a:schemeClr val="tx1"/>
                </a:solidFill>
                <a:latin typeface="Arial" panose="020B0604020202020204" pitchFamily="34" charset="0"/>
                <a:cs typeface="Arial" panose="020B0604020202020204" pitchFamily="34" charset="0"/>
              </a:rPr>
              <a:t>)</a:t>
            </a:r>
            <a:endParaRPr lang="en-US" sz="2000" dirty="0">
              <a:solidFill>
                <a:schemeClr val="tx1"/>
              </a:solidFill>
              <a:latin typeface="Arial" panose="020B0604020202020204" pitchFamily="34" charset="0"/>
              <a:cs typeface="Arial" panose="020B0604020202020204" pitchFamily="34" charset="0"/>
            </a:endParaRPr>
          </a:p>
        </p:txBody>
      </p:sp>
      <p:pic>
        <p:nvPicPr>
          <p:cNvPr id="4" name="Picture 6"/>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836917" y="1557349"/>
            <a:ext cx="3962400" cy="1983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944" y="3846136"/>
            <a:ext cx="3906347" cy="2407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3692" y="1064836"/>
            <a:ext cx="6435969" cy="278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7477" y="3846137"/>
            <a:ext cx="6342184" cy="2802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53975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2" y="433755"/>
            <a:ext cx="11242430" cy="867508"/>
          </a:xfrm>
        </p:spPr>
        <p:txBody>
          <a:bodyPr/>
          <a:lstStyle/>
          <a:p>
            <a:r>
              <a:rPr lang="en-US" sz="2000" dirty="0">
                <a:latin typeface="Arial" panose="020B0604020202020204" pitchFamily="34" charset="0"/>
                <a:cs typeface="Arial" panose="020B0604020202020204" pitchFamily="34" charset="0"/>
              </a:rPr>
              <a:t>A count of the number of defaults is generated against age groups</a:t>
            </a:r>
          </a:p>
          <a:p>
            <a:r>
              <a:rPr lang="en-US" sz="2000" dirty="0">
                <a:latin typeface="Arial" panose="020B0604020202020204" pitchFamily="34" charset="0"/>
                <a:cs typeface="Arial" panose="020B0604020202020204" pitchFamily="34" charset="0"/>
              </a:rPr>
              <a:t>The younger age groups have been observed to default more than the other age groups.</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277" y="1322144"/>
            <a:ext cx="4028707" cy="2042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443" y="4009292"/>
            <a:ext cx="6861295" cy="2538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0738" y="4009292"/>
            <a:ext cx="4873137" cy="26864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0985" y="1322142"/>
            <a:ext cx="2872153" cy="2687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28388" y="1322142"/>
            <a:ext cx="4377836" cy="2687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77419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solidFill>
                  <a:schemeClr val="tx1"/>
                </a:solidFill>
                <a:latin typeface="Arial" panose="020B0604020202020204" pitchFamily="34" charset="0"/>
                <a:cs typeface="Arial" panose="020B0604020202020204" pitchFamily="34" charset="0"/>
              </a:rPr>
              <a:t>Distribution for Limit Balance</a:t>
            </a:r>
            <a:endParaRPr lang="en-US" sz="2400" dirty="0">
              <a:solidFill>
                <a:schemeClr val="tx1"/>
              </a:solidFill>
              <a:latin typeface="Arial" panose="020B0604020202020204" pitchFamily="34" charset="0"/>
              <a:cs typeface="Arial" panose="020B0604020202020204" pitchFamily="34" charset="0"/>
            </a:endParaRPr>
          </a:p>
        </p:txBody>
      </p:sp>
      <p:pic>
        <p:nvPicPr>
          <p:cNvPr id="8194"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418492" y="1406769"/>
            <a:ext cx="9929446" cy="4630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27463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923" y="468922"/>
            <a:ext cx="11113477" cy="948715"/>
          </a:xfrm>
        </p:spPr>
        <p:txBody>
          <a:bodyPr>
            <a:noAutofit/>
          </a:bodyPr>
          <a:lstStyle/>
          <a:p>
            <a:r>
              <a:rPr lang="en-US" sz="2000" dirty="0">
                <a:solidFill>
                  <a:schemeClr val="tx1"/>
                </a:solidFill>
                <a:latin typeface="Arial" panose="020B0604020202020204" pitchFamily="34" charset="0"/>
                <a:cs typeface="Arial" panose="020B0604020202020204" pitchFamily="34" charset="0"/>
              </a:rPr>
              <a:t/>
            </a:r>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The </a:t>
            </a:r>
            <a:r>
              <a:rPr lang="en-US" sz="2000" dirty="0" smtClean="0">
                <a:solidFill>
                  <a:schemeClr val="tx1"/>
                </a:solidFill>
                <a:latin typeface="Arial" panose="020B0604020202020204" pitchFamily="34" charset="0"/>
                <a:cs typeface="Arial" panose="020B0604020202020204" pitchFamily="34" charset="0"/>
              </a:rPr>
              <a:t>figure </a:t>
            </a:r>
            <a:r>
              <a:rPr lang="en-US" sz="2000" dirty="0">
                <a:solidFill>
                  <a:schemeClr val="tx1"/>
                </a:solidFill>
                <a:latin typeface="Arial" panose="020B0604020202020204" pitchFamily="34" charset="0"/>
                <a:cs typeface="Arial" panose="020B0604020202020204" pitchFamily="34" charset="0"/>
              </a:rPr>
              <a:t>shows bar plot for each month payment status which show the count of defaulters and non-defaulter.</a:t>
            </a:r>
          </a:p>
        </p:txBody>
      </p:sp>
      <p:pic>
        <p:nvPicPr>
          <p:cNvPr id="5122"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68923" y="1418492"/>
            <a:ext cx="10902462" cy="49940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66693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862" y="274638"/>
            <a:ext cx="11195538" cy="1143000"/>
          </a:xfrm>
        </p:spPr>
        <p:txBody>
          <a:bodyPr>
            <a:noAutofit/>
          </a:bodyPr>
          <a:lstStyle/>
          <a:p>
            <a:r>
              <a:rPr lang="en-US" sz="2000" dirty="0">
                <a:solidFill>
                  <a:schemeClr val="tx1"/>
                </a:solidFill>
                <a:latin typeface="Arial" panose="020B0604020202020204" pitchFamily="34" charset="0"/>
                <a:cs typeface="Arial" panose="020B0604020202020204" pitchFamily="34" charset="0"/>
              </a:rPr>
              <a:t/>
            </a:r>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
            </a:r>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The </a:t>
            </a:r>
            <a:r>
              <a:rPr lang="en-US" sz="2000" dirty="0" smtClean="0">
                <a:solidFill>
                  <a:schemeClr val="tx1"/>
                </a:solidFill>
                <a:latin typeface="Arial" panose="020B0604020202020204" pitchFamily="34" charset="0"/>
                <a:cs typeface="Arial" panose="020B0604020202020204" pitchFamily="34" charset="0"/>
              </a:rPr>
              <a:t>histogram </a:t>
            </a:r>
            <a:r>
              <a:rPr lang="en-US" sz="2000" dirty="0">
                <a:solidFill>
                  <a:schemeClr val="tx1"/>
                </a:solidFill>
                <a:latin typeface="Arial" panose="020B0604020202020204" pitchFamily="34" charset="0"/>
                <a:cs typeface="Arial" panose="020B0604020202020204" pitchFamily="34" charset="0"/>
              </a:rPr>
              <a:t>shows the distribution of payment amount for each month explicitly for defaulters and non-defaulters</a:t>
            </a:r>
            <a:br>
              <a:rPr lang="en-US" sz="2000" dirty="0">
                <a:solidFill>
                  <a:schemeClr val="tx1"/>
                </a:solidFill>
                <a:latin typeface="Arial" panose="020B0604020202020204" pitchFamily="34" charset="0"/>
                <a:cs typeface="Arial" panose="020B0604020202020204" pitchFamily="34" charset="0"/>
              </a:rPr>
            </a:br>
            <a:endParaRPr lang="en-US" sz="2000" dirty="0">
              <a:solidFill>
                <a:schemeClr val="tx1"/>
              </a:solidFill>
              <a:latin typeface="Arial" panose="020B0604020202020204" pitchFamily="34" charset="0"/>
              <a:cs typeface="Arial" panose="020B0604020202020204" pitchFamily="34" charset="0"/>
            </a:endParaRPr>
          </a:p>
        </p:txBody>
      </p:sp>
      <p:pic>
        <p:nvPicPr>
          <p:cNvPr id="614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17231" y="1195754"/>
            <a:ext cx="11723077" cy="54395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50061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23" y="504092"/>
            <a:ext cx="11265877" cy="913546"/>
          </a:xfrm>
        </p:spPr>
        <p:txBody>
          <a:bodyPr>
            <a:normAutofit/>
          </a:bodyPr>
          <a:lstStyle/>
          <a:p>
            <a:r>
              <a:rPr lang="en-US" sz="2000" dirty="0">
                <a:solidFill>
                  <a:schemeClr val="tx1"/>
                </a:solidFill>
                <a:latin typeface="Arial" panose="020B0604020202020204" pitchFamily="34" charset="0"/>
                <a:cs typeface="Arial" panose="020B0604020202020204" pitchFamily="34" charset="0"/>
              </a:rPr>
              <a:t>The </a:t>
            </a:r>
            <a:r>
              <a:rPr lang="en-US" sz="2000" dirty="0" smtClean="0">
                <a:solidFill>
                  <a:schemeClr val="tx1"/>
                </a:solidFill>
                <a:latin typeface="Arial" panose="020B0604020202020204" pitchFamily="34" charset="0"/>
                <a:cs typeface="Arial" panose="020B0604020202020204" pitchFamily="34" charset="0"/>
              </a:rPr>
              <a:t>histogram </a:t>
            </a:r>
            <a:r>
              <a:rPr lang="en-US" sz="2000" dirty="0">
                <a:solidFill>
                  <a:schemeClr val="tx1"/>
                </a:solidFill>
                <a:latin typeface="Arial" panose="020B0604020202020204" pitchFamily="34" charset="0"/>
                <a:cs typeface="Arial" panose="020B0604020202020204" pitchFamily="34" charset="0"/>
              </a:rPr>
              <a:t>shows the distribution of Bill amount generated for each month explicitly for defaulters and non-defaulters</a:t>
            </a:r>
          </a:p>
        </p:txBody>
      </p:sp>
      <p:pic>
        <p:nvPicPr>
          <p:cNvPr id="717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39969" y="1447800"/>
            <a:ext cx="11512062" cy="50585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839195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415" y="274638"/>
            <a:ext cx="11218985" cy="1143000"/>
          </a:xfrm>
        </p:spPr>
        <p:txBody>
          <a:bodyPr>
            <a:normAutofit fontScale="90000"/>
          </a:bodyPr>
          <a:lstStyle/>
          <a:p>
            <a:r>
              <a:rPr lang="en-US" dirty="0" err="1"/>
              <a:t>sns.boxplot</a:t>
            </a:r>
            <a:r>
              <a:rPr lang="en-US" dirty="0"/>
              <a:t>(x='def_paymnt_nxt_</a:t>
            </a:r>
            <a:r>
              <a:rPr lang="en-US" dirty="0" err="1"/>
              <a:t>mnth</a:t>
            </a:r>
            <a:r>
              <a:rPr lang="en-US" dirty="0"/>
              <a:t>',y='</a:t>
            </a:r>
            <a:r>
              <a:rPr lang="en-US" dirty="0" err="1"/>
              <a:t>AGE',data</a:t>
            </a:r>
            <a:r>
              <a:rPr lang="en-US" dirty="0"/>
              <a:t>=</a:t>
            </a:r>
            <a:r>
              <a:rPr lang="en-US" dirty="0" err="1"/>
              <a:t>data,palette</a:t>
            </a:r>
            <a:r>
              <a:rPr lang="en-US" dirty="0"/>
              <a:t>='rainbow')</a:t>
            </a:r>
          </a:p>
        </p:txBody>
      </p:sp>
      <p:pic>
        <p:nvPicPr>
          <p:cNvPr id="9218"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14400" y="1617785"/>
            <a:ext cx="10222523" cy="47595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839195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754" y="403592"/>
            <a:ext cx="11172092" cy="827331"/>
          </a:xfrm>
        </p:spPr>
        <p:txBody>
          <a:bodyPr>
            <a:normAutofit fontScale="90000"/>
          </a:bodyPr>
          <a:lstStyle/>
          <a:p>
            <a:r>
              <a:rPr lang="en-US" dirty="0" err="1"/>
              <a:t>sns.boxplot</a:t>
            </a:r>
            <a:r>
              <a:rPr lang="en-US" dirty="0"/>
              <a:t>(x='def_paymnt_nxt_</a:t>
            </a:r>
            <a:r>
              <a:rPr lang="en-US" dirty="0" err="1"/>
              <a:t>mnth</a:t>
            </a:r>
            <a:r>
              <a:rPr lang="en-US" dirty="0"/>
              <a:t>',hue='MARRIAGE', y='</a:t>
            </a:r>
            <a:r>
              <a:rPr lang="en-US" dirty="0" err="1"/>
              <a:t>AGE',data</a:t>
            </a:r>
            <a:r>
              <a:rPr lang="en-US" dirty="0"/>
              <a:t>=</a:t>
            </a:r>
            <a:r>
              <a:rPr lang="en-US" dirty="0" err="1"/>
              <a:t>data,palette</a:t>
            </a:r>
            <a:r>
              <a:rPr lang="en-US" dirty="0"/>
              <a:t>="rainbow")</a:t>
            </a:r>
          </a:p>
        </p:txBody>
      </p:sp>
      <p:pic>
        <p:nvPicPr>
          <p:cNvPr id="10242"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86862" y="1406769"/>
            <a:ext cx="11324492" cy="5134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53263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2" y="591161"/>
            <a:ext cx="11195538" cy="651485"/>
          </a:xfrm>
        </p:spPr>
        <p:txBody>
          <a:bodyPr>
            <a:normAutofit fontScale="90000"/>
          </a:bodyPr>
          <a:lstStyle/>
          <a:p>
            <a:r>
              <a:rPr lang="en-US" dirty="0"/>
              <a:t/>
            </a:r>
            <a:br>
              <a:rPr lang="en-US" dirty="0"/>
            </a:br>
            <a:r>
              <a:rPr lang="en-US" dirty="0" err="1"/>
              <a:t>sns.boxplot</a:t>
            </a:r>
            <a:r>
              <a:rPr lang="en-US" dirty="0"/>
              <a:t>(x='def_paymnt_nxt_</a:t>
            </a:r>
            <a:r>
              <a:rPr lang="en-US" dirty="0" err="1"/>
              <a:t>mnth</a:t>
            </a:r>
            <a:r>
              <a:rPr lang="en-US" dirty="0"/>
              <a:t>',hue='EDUCATION', y='</a:t>
            </a:r>
            <a:r>
              <a:rPr lang="en-US" dirty="0" err="1"/>
              <a:t>AGE',data</a:t>
            </a:r>
            <a:r>
              <a:rPr lang="en-US" dirty="0"/>
              <a:t>=</a:t>
            </a:r>
            <a:r>
              <a:rPr lang="en-US" dirty="0" err="1"/>
              <a:t>data,palette</a:t>
            </a:r>
            <a:r>
              <a:rPr lang="en-US" dirty="0"/>
              <a:t>="rainbow" )</a:t>
            </a:r>
          </a:p>
        </p:txBody>
      </p:sp>
      <p:pic>
        <p:nvPicPr>
          <p:cNvPr id="1126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56492" y="1465386"/>
            <a:ext cx="10609385" cy="48064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10992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540" y="520823"/>
            <a:ext cx="11113477" cy="721824"/>
          </a:xfrm>
        </p:spPr>
        <p:txBody>
          <a:bodyPr>
            <a:normAutofit fontScale="90000"/>
          </a:bodyPr>
          <a:lstStyle/>
          <a:p>
            <a:r>
              <a:rPr lang="en-US" dirty="0" err="1"/>
              <a:t>sns.boxplot</a:t>
            </a:r>
            <a:r>
              <a:rPr lang="en-US" dirty="0"/>
              <a:t>(x='</a:t>
            </a:r>
            <a:r>
              <a:rPr lang="en-US" dirty="0" err="1"/>
              <a:t>SEX',hue</a:t>
            </a:r>
            <a:r>
              <a:rPr lang="en-US" dirty="0"/>
              <a:t>='</a:t>
            </a:r>
            <a:r>
              <a:rPr lang="en-US" dirty="0" err="1"/>
              <a:t>def_paymnt_nxt_mnth</a:t>
            </a:r>
            <a:r>
              <a:rPr lang="en-US" dirty="0"/>
              <a:t>', y='</a:t>
            </a:r>
            <a:r>
              <a:rPr lang="en-US" dirty="0" err="1"/>
              <a:t>LIMIT_BAL',data</a:t>
            </a:r>
            <a:r>
              <a:rPr lang="en-US" dirty="0"/>
              <a:t>=</a:t>
            </a:r>
            <a:r>
              <a:rPr lang="en-US" dirty="0" err="1"/>
              <a:t>data,palette</a:t>
            </a:r>
            <a:r>
              <a:rPr lang="en-US" dirty="0"/>
              <a:t>="rainbow")</a:t>
            </a:r>
          </a:p>
        </p:txBody>
      </p:sp>
      <p:pic>
        <p:nvPicPr>
          <p:cNvPr id="1229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09600" y="1289538"/>
            <a:ext cx="11301046" cy="518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53263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646" y="509100"/>
            <a:ext cx="11101754" cy="674931"/>
          </a:xfrm>
        </p:spPr>
        <p:txBody>
          <a:bodyPr>
            <a:normAutofit fontScale="90000"/>
          </a:bodyPr>
          <a:lstStyle/>
          <a:p>
            <a:r>
              <a:rPr lang="en-US" dirty="0" err="1"/>
              <a:t>sns.boxplot</a:t>
            </a:r>
            <a:r>
              <a:rPr lang="en-US" dirty="0"/>
              <a:t>(x='</a:t>
            </a:r>
            <a:r>
              <a:rPr lang="en-US" dirty="0" err="1"/>
              <a:t>MARRIAGE',hue</a:t>
            </a:r>
            <a:r>
              <a:rPr lang="en-US" dirty="0"/>
              <a:t>='</a:t>
            </a:r>
            <a:r>
              <a:rPr lang="en-US" dirty="0" err="1"/>
              <a:t>def_paymnt_nxt_mnth</a:t>
            </a:r>
            <a:r>
              <a:rPr lang="en-US" dirty="0"/>
              <a:t>', y='</a:t>
            </a:r>
            <a:r>
              <a:rPr lang="en-US" dirty="0" err="1"/>
              <a:t>LIMIT_BAL',data</a:t>
            </a:r>
            <a:r>
              <a:rPr lang="en-US" dirty="0"/>
              <a:t>=</a:t>
            </a:r>
            <a:r>
              <a:rPr lang="en-US" dirty="0" err="1"/>
              <a:t>data,palette</a:t>
            </a:r>
            <a:r>
              <a:rPr lang="en-US" dirty="0"/>
              <a:t>="rainbow")</a:t>
            </a:r>
          </a:p>
        </p:txBody>
      </p:sp>
      <p:pic>
        <p:nvPicPr>
          <p:cNvPr id="13314"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81354" y="1254370"/>
            <a:ext cx="11547231" cy="5275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58042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a:spLocks noGrp="1"/>
          </p:cNvSpPr>
          <p:nvPr>
            <p:ph type="title"/>
          </p:nvPr>
        </p:nvSpPr>
        <p:spPr>
          <a:xfrm>
            <a:off x="339969" y="879029"/>
            <a:ext cx="11242431" cy="538609"/>
          </a:xfrm>
          <a:prstGeom prst="rect">
            <a:avLst/>
          </a:prstGeom>
          <a:noFill/>
        </p:spPr>
        <p:txBody>
          <a:bodyPr wrap="square" rtlCol="0">
            <a:spAutoFit/>
          </a:bodyPr>
          <a:lstStyle/>
          <a:p>
            <a:pPr>
              <a:spcBef>
                <a:spcPts val="580"/>
              </a:spcBef>
              <a:buClr>
                <a:schemeClr val="accent1"/>
              </a:buClr>
              <a:buSzPct val="85000"/>
            </a:pPr>
            <a:r>
              <a:rPr lang="en-US" sz="2600" dirty="0">
                <a:solidFill>
                  <a:schemeClr val="tx1"/>
                </a:solidFill>
                <a:latin typeface="+mn-lt"/>
                <a:ea typeface="+mn-ea"/>
                <a:cs typeface="+mn-cs"/>
              </a:rPr>
              <a:t>Correlation Matrix of Data Set</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477" y="138113"/>
            <a:ext cx="11324492" cy="658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1346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046" y="274638"/>
            <a:ext cx="10949354" cy="1143000"/>
          </a:xfrm>
        </p:spPr>
        <p:txBody>
          <a:bodyPr>
            <a:normAutofit/>
          </a:bodyPr>
          <a:lstStyle/>
          <a:p>
            <a:r>
              <a:rPr lang="en-US" sz="2000" dirty="0">
                <a:solidFill>
                  <a:schemeClr val="tx1"/>
                </a:solidFill>
              </a:rPr>
              <a:t>It seems from the </a:t>
            </a:r>
            <a:r>
              <a:rPr lang="en-US" sz="2000" dirty="0" smtClean="0">
                <a:solidFill>
                  <a:schemeClr val="tx1"/>
                </a:solidFill>
              </a:rPr>
              <a:t>graph that </a:t>
            </a:r>
            <a:r>
              <a:rPr lang="en-US" sz="2000" dirty="0">
                <a:solidFill>
                  <a:schemeClr val="tx1"/>
                </a:solidFill>
              </a:rPr>
              <a:t>most negatively correlated feature is LIMIT_BAL but we cannot blindly remove this feature because according to me it is very important feature for prediction. ID is unimportant and it has no role in prediction so we will remove it later.</a:t>
            </a:r>
          </a:p>
        </p:txBody>
      </p:sp>
      <p:pic>
        <p:nvPicPr>
          <p:cNvPr id="15362"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539262" y="1447800"/>
            <a:ext cx="11172092" cy="4929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0732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982" y="274638"/>
            <a:ext cx="11231418" cy="1143000"/>
          </a:xfrm>
        </p:spPr>
        <p:txBody>
          <a:bodyPr>
            <a:normAutofit/>
          </a:bodyPr>
          <a:lstStyle/>
          <a:p>
            <a:r>
              <a:rPr lang="en-IN" sz="5400" b="1" dirty="0">
                <a:latin typeface="Arial" panose="020B0604020202020204" pitchFamily="34" charset="0"/>
                <a:cs typeface="Arial" panose="020B0604020202020204" pitchFamily="34" charset="0"/>
              </a:rPr>
              <a:t>Data Preparation</a:t>
            </a:r>
          </a:p>
        </p:txBody>
      </p:sp>
      <p:sp>
        <p:nvSpPr>
          <p:cNvPr id="3" name="Content Placeholder 2"/>
          <p:cNvSpPr>
            <a:spLocks noGrp="1"/>
          </p:cNvSpPr>
          <p:nvPr>
            <p:ph idx="1"/>
          </p:nvPr>
        </p:nvSpPr>
        <p:spPr>
          <a:xfrm>
            <a:off x="350982" y="1447800"/>
            <a:ext cx="11231418" cy="5135562"/>
          </a:xfrm>
        </p:spPr>
        <p:txBody>
          <a:bodyPr>
            <a:normAutofit/>
          </a:bodyPr>
          <a:lstStyle/>
          <a:p>
            <a:r>
              <a:rPr lang="en-US" sz="2400" dirty="0">
                <a:latin typeface="Arial" panose="020B0604020202020204" pitchFamily="34" charset="0"/>
                <a:cs typeface="Arial" panose="020B0604020202020204" pitchFamily="34" charset="0"/>
              </a:rPr>
              <a:t>The attribute name ‘PAY_0’ was converted to ‘PAY_1’ for naming convenience.</a:t>
            </a:r>
          </a:p>
          <a:p>
            <a:r>
              <a:rPr lang="en-US" sz="2400" dirty="0">
                <a:latin typeface="Arial" panose="020B0604020202020204" pitchFamily="34" charset="0"/>
                <a:cs typeface="Arial" panose="020B0604020202020204" pitchFamily="34" charset="0"/>
              </a:rPr>
              <a:t>Numeric attributes were converted to nominal.</a:t>
            </a:r>
          </a:p>
          <a:p>
            <a:r>
              <a:rPr lang="en-US" sz="2400" dirty="0">
                <a:latin typeface="Arial" panose="020B0604020202020204" pitchFamily="34" charset="0"/>
                <a:cs typeface="Arial" panose="020B0604020202020204" pitchFamily="34" charset="0"/>
              </a:rPr>
              <a:t>Values in the ‘EDUCATION’ variable </a:t>
            </a:r>
            <a:r>
              <a:rPr lang="en-US" sz="2400" dirty="0" smtClean="0">
                <a:latin typeface="Arial" panose="020B0604020202020204" pitchFamily="34" charset="0"/>
                <a:cs typeface="Arial" panose="020B0604020202020204" pitchFamily="34" charset="0"/>
              </a:rPr>
              <a:t>will be </a:t>
            </a:r>
            <a:r>
              <a:rPr lang="en-US" sz="2400" dirty="0">
                <a:latin typeface="Arial" panose="020B0604020202020204" pitchFamily="34" charset="0"/>
                <a:cs typeface="Arial" panose="020B0604020202020204" pitchFamily="34" charset="0"/>
              </a:rPr>
              <a:t>grouped such that the values ‘0,4,5,6’ was combined to one value and assigned a value ‘4’.</a:t>
            </a:r>
          </a:p>
          <a:p>
            <a:r>
              <a:rPr lang="en-US" sz="2400" dirty="0">
                <a:latin typeface="Arial" panose="020B0604020202020204" pitchFamily="34" charset="0"/>
                <a:cs typeface="Arial" panose="020B0604020202020204" pitchFamily="34" charset="0"/>
              </a:rPr>
              <a:t>For all classification tasks, target variable was converted to numeric.</a:t>
            </a:r>
          </a:p>
          <a:p>
            <a:pPr marL="0" indent="0">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90666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09" y="274638"/>
            <a:ext cx="11453091" cy="1143000"/>
          </a:xfrm>
        </p:spPr>
        <p:txBody>
          <a:bodyPr/>
          <a:lstStyle/>
          <a:p>
            <a:r>
              <a:rPr lang="en-US" b="1" dirty="0">
                <a:latin typeface="Arial" panose="020B0604020202020204" pitchFamily="34" charset="0"/>
                <a:cs typeface="Arial" panose="020B0604020202020204" pitchFamily="34" charset="0"/>
              </a:rPr>
              <a:t>List of R</a:t>
            </a:r>
            <a:r>
              <a:rPr lang="en-IN" b="1" dirty="0" err="1">
                <a:latin typeface="Arial" panose="020B0604020202020204" pitchFamily="34" charset="0"/>
                <a:cs typeface="Arial" panose="020B0604020202020204" pitchFamily="34" charset="0"/>
              </a:rPr>
              <a:t>eferences</a:t>
            </a:r>
            <a:endParaRPr lang="en-US" dirty="0"/>
          </a:p>
        </p:txBody>
      </p:sp>
      <p:sp>
        <p:nvSpPr>
          <p:cNvPr id="3" name="Content Placeholder 2"/>
          <p:cNvSpPr>
            <a:spLocks noGrp="1"/>
          </p:cNvSpPr>
          <p:nvPr>
            <p:ph idx="1"/>
          </p:nvPr>
        </p:nvSpPr>
        <p:spPr>
          <a:xfrm>
            <a:off x="267855" y="1447800"/>
            <a:ext cx="11314545" cy="4572000"/>
          </a:xfrm>
        </p:spPr>
        <p:txBody>
          <a:bodyPr>
            <a:normAutofit/>
          </a:bodyPr>
          <a:lstStyle/>
          <a:p>
            <a:pPr lvl="0"/>
            <a:r>
              <a:rPr lang="en-US" sz="2400" dirty="0">
                <a:latin typeface="Arial" panose="020B0604020202020204" pitchFamily="34" charset="0"/>
                <a:cs typeface="Arial" panose="020B0604020202020204" pitchFamily="34" charset="0"/>
                <a:hlinkClick r:id="rId2"/>
              </a:rPr>
              <a:t>http://</a:t>
            </a:r>
            <a:r>
              <a:rPr lang="en-US" sz="2400" dirty="0" smtClean="0">
                <a:latin typeface="Arial" panose="020B0604020202020204" pitchFamily="34" charset="0"/>
                <a:cs typeface="Arial" panose="020B0604020202020204" pitchFamily="34" charset="0"/>
                <a:hlinkClick r:id="rId2"/>
              </a:rPr>
              <a:t>jmlr.org/proceedings/papers/v28/denil13-supp.pdf</a:t>
            </a:r>
            <a:endParaRPr lang="en-US" sz="2400" dirty="0" smtClean="0">
              <a:latin typeface="Arial" panose="020B0604020202020204" pitchFamily="34" charset="0"/>
              <a:cs typeface="Arial" panose="020B0604020202020204" pitchFamily="34" charset="0"/>
            </a:endParaRPr>
          </a:p>
          <a:p>
            <a:pPr lvl="0"/>
            <a:r>
              <a:rPr lang="en-US" sz="2400" dirty="0">
                <a:hlinkClick r:id="rId3"/>
              </a:rPr>
              <a:t>https://stackoverflow.com</a:t>
            </a:r>
            <a:r>
              <a:rPr lang="en-US" sz="2400" dirty="0" smtClean="0">
                <a:hlinkClick r:id="rId3"/>
              </a:rPr>
              <a:t>/</a:t>
            </a:r>
            <a:endParaRPr lang="en-US" sz="2400" dirty="0" smtClean="0"/>
          </a:p>
          <a:p>
            <a:pPr lvl="0"/>
            <a:r>
              <a:rPr lang="en-US" sz="2400" dirty="0">
                <a:hlinkClick r:id="rId4"/>
              </a:rPr>
              <a:t>https://www.analyticsvidhya.com/blog</a:t>
            </a:r>
            <a:r>
              <a:rPr lang="en-US" sz="2400" dirty="0" smtClean="0">
                <a:hlinkClick r:id="rId4"/>
              </a:rPr>
              <a:t>/</a:t>
            </a:r>
            <a:endParaRPr lang="en-US" sz="2400" dirty="0" smtClean="0"/>
          </a:p>
          <a:p>
            <a:pPr lvl="0"/>
            <a:r>
              <a:rPr lang="en-US" sz="2400" dirty="0">
                <a:hlinkClick r:id="rId5"/>
              </a:rPr>
              <a:t>https://medium.com/</a:t>
            </a:r>
            <a:endParaRPr lang="en-US" sz="2400" dirty="0">
              <a:latin typeface="Arial" panose="020B0604020202020204" pitchFamily="34" charset="0"/>
              <a:cs typeface="Arial" panose="020B0604020202020204" pitchFamily="34" charset="0"/>
            </a:endParaRPr>
          </a:p>
          <a:p>
            <a:pPr lvl="0"/>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27297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480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441</TotalTime>
  <Words>1146</Words>
  <Application>Microsoft Office PowerPoint</Application>
  <PresentationFormat>Custom</PresentationFormat>
  <Paragraphs>69</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Equity</vt:lpstr>
      <vt:lpstr>   Name   : BARUN KUMAR Roll no. : 18125760015</vt:lpstr>
      <vt:lpstr>PowerPoint Presentation</vt:lpstr>
      <vt:lpstr>Problem Statement</vt:lpstr>
      <vt:lpstr>Business Understanding</vt:lpstr>
      <vt:lpstr>Approach</vt:lpstr>
      <vt:lpstr>Data Understanding</vt:lpstr>
      <vt:lpstr>PowerPoint Presentation</vt:lpstr>
      <vt:lpstr>PowerPoint Presentation</vt:lpstr>
      <vt:lpstr>Dataset Summary</vt:lpstr>
      <vt:lpstr>PowerPoint Presentation</vt:lpstr>
      <vt:lpstr>PowerPoint Presentation</vt:lpstr>
      <vt:lpstr>Exploratory Data Analysis &amp; Data Visualization</vt:lpstr>
      <vt:lpstr>PowerPoint Presentation</vt:lpstr>
      <vt:lpstr>PowerPoint Presentation</vt:lpstr>
      <vt:lpstr>From plot, it is clear that those people who have marital status single have less default payment wrt married status people (1 = married; 2 = single; 3 = others)</vt:lpstr>
      <vt:lpstr>PowerPoint Presentation</vt:lpstr>
      <vt:lpstr>Distribution for Limit Balance</vt:lpstr>
      <vt:lpstr> The figure shows bar plot for each month payment status which show the count of defaulters and non-defaulter.</vt:lpstr>
      <vt:lpstr>  The histogram shows the distribution of payment amount for each month explicitly for defaulters and non-defaulters </vt:lpstr>
      <vt:lpstr>The histogram shows the distribution of Bill amount generated for each month explicitly for defaulters and non-defaulters</vt:lpstr>
      <vt:lpstr>sns.boxplot(x='def_paymnt_nxt_mnth',y='AGE',data=data,palette='rainbow')</vt:lpstr>
      <vt:lpstr>sns.boxplot(x='def_paymnt_nxt_mnth',hue='MARRIAGE', y='AGE',data=data,palette="rainbow")</vt:lpstr>
      <vt:lpstr> sns.boxplot(x='def_paymnt_nxt_mnth',hue='EDUCATION', y='AGE',data=data,palette="rainbow" )</vt:lpstr>
      <vt:lpstr>sns.boxplot(x='SEX',hue='def_paymnt_nxt_mnth', y='LIMIT_BAL',data=data,palette="rainbow")</vt:lpstr>
      <vt:lpstr>sns.boxplot(x='MARRIAGE',hue='def_paymnt_nxt_mnth', y='LIMIT_BAL',data=data,palette="rainbow")</vt:lpstr>
      <vt:lpstr>Correlation Matrix of Data Set</vt:lpstr>
      <vt:lpstr>It seems from the graph that most negatively correlated feature is LIMIT_BAL but we cannot blindly remove this feature because according to me it is very important feature for prediction. ID is unimportant and it has no role in prediction so we will remove it later.</vt:lpstr>
      <vt:lpstr>Data Preparation</vt:lpstr>
      <vt:lpstr>List of References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XXXXXX Roll no.XXXXXX</dc:title>
  <dc:creator>Mallikarjuna Doddamane [MaGE]</dc:creator>
  <cp:lastModifiedBy>Barun Kumar</cp:lastModifiedBy>
  <cp:revision>28</cp:revision>
  <dcterms:created xsi:type="dcterms:W3CDTF">2018-02-05T13:42:06Z</dcterms:created>
  <dcterms:modified xsi:type="dcterms:W3CDTF">2019-05-09T12:29:16Z</dcterms:modified>
</cp:coreProperties>
</file>