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sldIdLst>
    <p:sldId id="257"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 id="260" r:id="rId16"/>
    <p:sldId id="261" r:id="rId17"/>
    <p:sldId id="262" r:id="rId18"/>
    <p:sldId id="265" r:id="rId19"/>
    <p:sldId id="263" r:id="rId20"/>
    <p:sldId id="264" r:id="rId21"/>
    <p:sldId id="267" r:id="rId22"/>
    <p:sldId id="268"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81" d="100"/>
          <a:sy n="81" d="100"/>
        </p:scale>
        <p:origin x="-78" y="-7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A1899A70-3933-4DBF-90EF-BA548142E849}" type="datetimeFigureOut">
              <a:rPr lang="en-IN" smtClean="0"/>
              <a:t>08-05-2019</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00C0149-F25E-4258-9874-E37679DDFFC2}" type="slidenum">
              <a:rPr lang="en-IN" smtClean="0"/>
              <a:t>‹#›</a:t>
            </a:fld>
            <a:endParaRPr lang="en-IN"/>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1899A70-3933-4DBF-90EF-BA548142E849}" type="datetimeFigureOut">
              <a:rPr lang="en-IN" smtClean="0"/>
              <a:t>08-05-2019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1899A70-3933-4DBF-90EF-BA548142E849}" type="datetimeFigureOut">
              <a:rPr lang="en-IN" smtClean="0"/>
              <a:t>08-05-2019</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300C0149-F25E-4258-9874-E37679DDFFC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A1899A70-3933-4DBF-90EF-BA548142E849}" type="datetimeFigureOut">
              <a:rPr lang="en-IN" smtClean="0"/>
              <a:t>08-05-2019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0C0149-F25E-4258-9874-E37679DDFFC2}" type="slidenum">
              <a:rPr lang="en-IN" smtClean="0"/>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A1899A70-3933-4DBF-90EF-BA548142E849}" type="datetimeFigureOut">
              <a:rPr lang="en-IN" smtClean="0"/>
              <a:t>08-05-2019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0C0149-F25E-4258-9874-E37679DDFFC2}" type="slidenum">
              <a:rPr lang="en-IN" smtClean="0"/>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1899A70-3933-4DBF-90EF-BA548142E849}" type="datetimeFigureOut">
              <a:rPr lang="en-IN" smtClean="0"/>
              <a:t>08-05-2019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899A70-3933-4DBF-90EF-BA548142E849}" type="datetimeFigureOut">
              <a:rPr lang="en-IN" smtClean="0"/>
              <a:t>08-05-2019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1899A70-3933-4DBF-90EF-BA548142E849}" type="datetimeFigureOut">
              <a:rPr lang="en-IN" smtClean="0"/>
              <a:t>08-05-2019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0C0149-F25E-4258-9874-E37679DDFFC2}" type="slidenum">
              <a:rPr lang="en-IN" smtClean="0"/>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1899A70-3933-4DBF-90EF-BA548142E849}" type="datetimeFigureOut">
              <a:rPr lang="en-IN" smtClean="0"/>
              <a:t>08-05-2019</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300C0149-F25E-4258-9874-E37679DDFFC2}" type="slidenum">
              <a:rPr lang="en-IN" smtClean="0"/>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1899A70-3933-4DBF-90EF-BA548142E849}" type="datetimeFigureOut">
              <a:rPr lang="en-IN" smtClean="0"/>
              <a:t>08-05-2019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1899A70-3933-4DBF-90EF-BA548142E849}" type="datetimeFigureOut">
              <a:rPr lang="en-IN" smtClean="0"/>
              <a:t>08-05-2019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ing Slide 2">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b="18070"/>
          <a:stretch/>
        </p:blipFill>
        <p:spPr>
          <a:xfrm>
            <a:off x="-3179" y="0"/>
            <a:ext cx="12195179" cy="6857766"/>
          </a:xfrm>
          <a:prstGeom prst="rect">
            <a:avLst/>
          </a:prstGeom>
        </p:spPr>
      </p:pic>
      <p:sp>
        <p:nvSpPr>
          <p:cNvPr id="16" name="Title 1"/>
          <p:cNvSpPr>
            <a:spLocks noGrp="1"/>
          </p:cNvSpPr>
          <p:nvPr>
            <p:ph type="title" hasCustomPrompt="1"/>
          </p:nvPr>
        </p:nvSpPr>
        <p:spPr>
          <a:xfrm>
            <a:off x="658528" y="3721253"/>
            <a:ext cx="6242051" cy="948454"/>
          </a:xfrm>
        </p:spPr>
        <p:txBody>
          <a:bodyPr anchor="b">
            <a:noAutofit/>
          </a:bodyPr>
          <a:lstStyle>
            <a:lvl1pPr>
              <a:defRPr lang="en-IN" sz="6000" kern="1200" dirty="0">
                <a:solidFill>
                  <a:prstClr val="white"/>
                </a:solidFill>
                <a:latin typeface="Poppins" panose="02000000000000000000" pitchFamily="2" charset="0"/>
                <a:ea typeface="+mn-ea"/>
                <a:cs typeface="Poppins" panose="02000000000000000000" pitchFamily="2" charset="0"/>
              </a:defRPr>
            </a:lvl1pPr>
          </a:lstStyle>
          <a:p>
            <a:r>
              <a:rPr lang="en-US" dirty="0" smtClean="0"/>
              <a:t>Click to edit title</a:t>
            </a:r>
            <a:endParaRPr lang="en-IN" dirty="0"/>
          </a:p>
        </p:txBody>
      </p:sp>
      <p:pic>
        <p:nvPicPr>
          <p:cNvPr id="17" name="Picture 16"/>
          <p:cNvPicPr>
            <a:picLocks noChangeAspect="1"/>
          </p:cNvPicPr>
          <p:nvPr userDrawn="1"/>
        </p:nvPicPr>
        <p:blipFill>
          <a:blip r:embed="rId3"/>
          <a:stretch>
            <a:fillRect/>
          </a:stretch>
        </p:blipFill>
        <p:spPr>
          <a:xfrm>
            <a:off x="8314482" y="2"/>
            <a:ext cx="3877519" cy="809065"/>
          </a:xfrm>
          <a:prstGeom prst="rect">
            <a:avLst/>
          </a:prstGeom>
        </p:spPr>
      </p:pic>
    </p:spTree>
    <p:extLst>
      <p:ext uri="{BB962C8B-B14F-4D97-AF65-F5344CB8AC3E}">
        <p14:creationId xmlns:p14="http://schemas.microsoft.com/office/powerpoint/2010/main" val="388662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userDrawn="1"/>
        </p:nvGrpSpPr>
        <p:grpSpPr>
          <a:xfrm>
            <a:off x="-7047" y="1"/>
            <a:ext cx="9347563" cy="6858000"/>
            <a:chOff x="-7046" y="8021"/>
            <a:chExt cx="9347562" cy="6849979"/>
          </a:xfrm>
        </p:grpSpPr>
        <p:sp>
          <p:nvSpPr>
            <p:cNvPr id="8" name="Rectangle 6"/>
            <p:cNvSpPr/>
            <p:nvPr/>
          </p:nvSpPr>
          <p:spPr>
            <a:xfrm>
              <a:off x="-7046" y="8021"/>
              <a:ext cx="9347562" cy="6849979"/>
            </a:xfrm>
            <a:custGeom>
              <a:avLst/>
              <a:gdLst>
                <a:gd name="connsiteX0" fmla="*/ 0 w 2229853"/>
                <a:gd name="connsiteY0" fmla="*/ 0 h 6858000"/>
                <a:gd name="connsiteX1" fmla="*/ 2229853 w 2229853"/>
                <a:gd name="connsiteY1" fmla="*/ 0 h 6858000"/>
                <a:gd name="connsiteX2" fmla="*/ 2229853 w 2229853"/>
                <a:gd name="connsiteY2" fmla="*/ 6858000 h 6858000"/>
                <a:gd name="connsiteX3" fmla="*/ 0 w 2229853"/>
                <a:gd name="connsiteY3" fmla="*/ 6858000 h 6858000"/>
                <a:gd name="connsiteX4" fmla="*/ 0 w 2229853"/>
                <a:gd name="connsiteY4" fmla="*/ 0 h 6858000"/>
                <a:gd name="connsiteX0" fmla="*/ 0 w 6489032"/>
                <a:gd name="connsiteY0" fmla="*/ 0 h 6858000"/>
                <a:gd name="connsiteX1" fmla="*/ 6489032 w 6489032"/>
                <a:gd name="connsiteY1" fmla="*/ 8021 h 6858000"/>
                <a:gd name="connsiteX2" fmla="*/ 2229853 w 6489032"/>
                <a:gd name="connsiteY2" fmla="*/ 6858000 h 6858000"/>
                <a:gd name="connsiteX3" fmla="*/ 0 w 6489032"/>
                <a:gd name="connsiteY3" fmla="*/ 6858000 h 6858000"/>
                <a:gd name="connsiteX4" fmla="*/ 0 w 6489032"/>
                <a:gd name="connsiteY4" fmla="*/ 0 h 6858000"/>
                <a:gd name="connsiteX0" fmla="*/ 0 w 6489032"/>
                <a:gd name="connsiteY0" fmla="*/ 0 h 6858000"/>
                <a:gd name="connsiteX1" fmla="*/ 6489032 w 6489032"/>
                <a:gd name="connsiteY1" fmla="*/ 8021 h 6858000"/>
                <a:gd name="connsiteX2" fmla="*/ 1090863 w 6489032"/>
                <a:gd name="connsiteY2" fmla="*/ 6833937 h 6858000"/>
                <a:gd name="connsiteX3" fmla="*/ 0 w 6489032"/>
                <a:gd name="connsiteY3" fmla="*/ 6858000 h 6858000"/>
                <a:gd name="connsiteX4" fmla="*/ 0 w 6489032"/>
                <a:gd name="connsiteY4" fmla="*/ 0 h 6858000"/>
                <a:gd name="connsiteX0" fmla="*/ 0 w 6489032"/>
                <a:gd name="connsiteY0" fmla="*/ 0 h 6858000"/>
                <a:gd name="connsiteX1" fmla="*/ 6489032 w 6489032"/>
                <a:gd name="connsiteY1" fmla="*/ 8021 h 6858000"/>
                <a:gd name="connsiteX2" fmla="*/ 1138990 w 6489032"/>
                <a:gd name="connsiteY2" fmla="*/ 6858000 h 6858000"/>
                <a:gd name="connsiteX3" fmla="*/ 0 w 6489032"/>
                <a:gd name="connsiteY3" fmla="*/ 6858000 h 6858000"/>
                <a:gd name="connsiteX4" fmla="*/ 0 w 6489032"/>
                <a:gd name="connsiteY4" fmla="*/ 0 h 6858000"/>
                <a:gd name="connsiteX0" fmla="*/ 2866768 w 9355800"/>
                <a:gd name="connsiteY0" fmla="*/ 0 h 6874475"/>
                <a:gd name="connsiteX1" fmla="*/ 9355800 w 9355800"/>
                <a:gd name="connsiteY1" fmla="*/ 8021 h 6874475"/>
                <a:gd name="connsiteX2" fmla="*/ 4005758 w 9355800"/>
                <a:gd name="connsiteY2" fmla="*/ 6858000 h 6874475"/>
                <a:gd name="connsiteX3" fmla="*/ 0 w 9355800"/>
                <a:gd name="connsiteY3" fmla="*/ 6874475 h 6874475"/>
                <a:gd name="connsiteX4" fmla="*/ 2866768 w 9355800"/>
                <a:gd name="connsiteY4" fmla="*/ 0 h 6874475"/>
                <a:gd name="connsiteX0" fmla="*/ 2866768 w 9355800"/>
                <a:gd name="connsiteY0" fmla="*/ 0 h 6858000"/>
                <a:gd name="connsiteX1" fmla="*/ 9355800 w 9355800"/>
                <a:gd name="connsiteY1" fmla="*/ 8021 h 6858000"/>
                <a:gd name="connsiteX2" fmla="*/ 4005758 w 9355800"/>
                <a:gd name="connsiteY2" fmla="*/ 6858000 h 6858000"/>
                <a:gd name="connsiteX3" fmla="*/ 0 w 9355800"/>
                <a:gd name="connsiteY3" fmla="*/ 6841524 h 6858000"/>
                <a:gd name="connsiteX4" fmla="*/ 2866768 w 9355800"/>
                <a:gd name="connsiteY4" fmla="*/ 0 h 6858000"/>
                <a:gd name="connsiteX0" fmla="*/ 2850292 w 9339324"/>
                <a:gd name="connsiteY0" fmla="*/ 0 h 6858000"/>
                <a:gd name="connsiteX1" fmla="*/ 9339324 w 9339324"/>
                <a:gd name="connsiteY1" fmla="*/ 8021 h 6858000"/>
                <a:gd name="connsiteX2" fmla="*/ 3989282 w 9339324"/>
                <a:gd name="connsiteY2" fmla="*/ 6858000 h 6858000"/>
                <a:gd name="connsiteX3" fmla="*/ 0 w 9339324"/>
                <a:gd name="connsiteY3" fmla="*/ 6849761 h 6858000"/>
                <a:gd name="connsiteX4" fmla="*/ 2850292 w 9339324"/>
                <a:gd name="connsiteY4" fmla="*/ 0 h 6858000"/>
                <a:gd name="connsiteX0" fmla="*/ 0 w 9339324"/>
                <a:gd name="connsiteY0" fmla="*/ 8455 h 6849979"/>
                <a:gd name="connsiteX1" fmla="*/ 9339324 w 9339324"/>
                <a:gd name="connsiteY1" fmla="*/ 0 h 6849979"/>
                <a:gd name="connsiteX2" fmla="*/ 3989282 w 9339324"/>
                <a:gd name="connsiteY2" fmla="*/ 6849979 h 6849979"/>
                <a:gd name="connsiteX3" fmla="*/ 0 w 9339324"/>
                <a:gd name="connsiteY3" fmla="*/ 6841740 h 6849979"/>
                <a:gd name="connsiteX4" fmla="*/ 0 w 9339324"/>
                <a:gd name="connsiteY4" fmla="*/ 8455 h 6849979"/>
                <a:gd name="connsiteX0" fmla="*/ 0 w 9347562"/>
                <a:gd name="connsiteY0" fmla="*/ 218 h 6849979"/>
                <a:gd name="connsiteX1" fmla="*/ 9347562 w 9347562"/>
                <a:gd name="connsiteY1" fmla="*/ 0 h 6849979"/>
                <a:gd name="connsiteX2" fmla="*/ 3997520 w 9347562"/>
                <a:gd name="connsiteY2" fmla="*/ 6849979 h 6849979"/>
                <a:gd name="connsiteX3" fmla="*/ 8238 w 9347562"/>
                <a:gd name="connsiteY3" fmla="*/ 6841740 h 6849979"/>
                <a:gd name="connsiteX4" fmla="*/ 0 w 9347562"/>
                <a:gd name="connsiteY4" fmla="*/ 218 h 6849979"/>
                <a:gd name="connsiteX0" fmla="*/ 0 w 9347562"/>
                <a:gd name="connsiteY0" fmla="*/ 218 h 6849979"/>
                <a:gd name="connsiteX1" fmla="*/ 9347562 w 9347562"/>
                <a:gd name="connsiteY1" fmla="*/ 0 h 6849979"/>
                <a:gd name="connsiteX2" fmla="*/ 3997520 w 9347562"/>
                <a:gd name="connsiteY2" fmla="*/ 6849979 h 6849979"/>
                <a:gd name="connsiteX3" fmla="*/ 8238 w 9347562"/>
                <a:gd name="connsiteY3" fmla="*/ 6849969 h 6849979"/>
                <a:gd name="connsiteX4" fmla="*/ 0 w 9347562"/>
                <a:gd name="connsiteY4" fmla="*/ 218 h 6849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47562" h="6849979">
                  <a:moveTo>
                    <a:pt x="0" y="218"/>
                  </a:moveTo>
                  <a:lnTo>
                    <a:pt x="9347562" y="0"/>
                  </a:lnTo>
                  <a:lnTo>
                    <a:pt x="3997520" y="6849979"/>
                  </a:lnTo>
                  <a:lnTo>
                    <a:pt x="8238" y="6849969"/>
                  </a:lnTo>
                  <a:lnTo>
                    <a:pt x="0" y="218"/>
                  </a:lnTo>
                  <a:close/>
                </a:path>
              </a:pathLst>
            </a:cu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reeform 8"/>
            <p:cNvSpPr/>
            <p:nvPr/>
          </p:nvSpPr>
          <p:spPr>
            <a:xfrm>
              <a:off x="4845136" y="2466975"/>
              <a:ext cx="2695575" cy="3124200"/>
            </a:xfrm>
            <a:custGeom>
              <a:avLst/>
              <a:gdLst>
                <a:gd name="connsiteX0" fmla="*/ 2514600 w 2695575"/>
                <a:gd name="connsiteY0" fmla="*/ 0 h 3124200"/>
                <a:gd name="connsiteX1" fmla="*/ 2695575 w 2695575"/>
                <a:gd name="connsiteY1" fmla="*/ 19050 h 3124200"/>
                <a:gd name="connsiteX2" fmla="*/ 200025 w 2695575"/>
                <a:gd name="connsiteY2" fmla="*/ 3124200 h 3124200"/>
                <a:gd name="connsiteX3" fmla="*/ 0 w 2695575"/>
                <a:gd name="connsiteY3" fmla="*/ 3124200 h 3124200"/>
                <a:gd name="connsiteX4" fmla="*/ 2514600 w 2695575"/>
                <a:gd name="connsiteY4" fmla="*/ 0 h 312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5575" h="3124200">
                  <a:moveTo>
                    <a:pt x="2514600" y="0"/>
                  </a:moveTo>
                  <a:lnTo>
                    <a:pt x="2695575" y="19050"/>
                  </a:lnTo>
                  <a:lnTo>
                    <a:pt x="200025" y="3124200"/>
                  </a:lnTo>
                  <a:lnTo>
                    <a:pt x="0" y="3124200"/>
                  </a:lnTo>
                  <a:lnTo>
                    <a:pt x="2514600" y="0"/>
                  </a:lnTo>
                  <a:close/>
                </a:path>
              </a:pathLst>
            </a:custGeom>
            <a:gradFill>
              <a:gsLst>
                <a:gs pos="0">
                  <a:srgbClr val="E97225"/>
                </a:gs>
                <a:gs pos="100000">
                  <a:srgbClr val="E6592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pic>
        <p:nvPicPr>
          <p:cNvPr id="10" name="Picture 9"/>
          <p:cNvPicPr>
            <a:picLocks noChangeAspect="1"/>
          </p:cNvPicPr>
          <p:nvPr userDrawn="1"/>
        </p:nvPicPr>
        <p:blipFill>
          <a:blip r:embed="rId3"/>
          <a:stretch>
            <a:fillRect/>
          </a:stretch>
        </p:blipFill>
        <p:spPr>
          <a:xfrm>
            <a:off x="503982" y="488140"/>
            <a:ext cx="3877519" cy="809065"/>
          </a:xfrm>
          <a:prstGeom prst="rect">
            <a:avLst/>
          </a:prstGeom>
        </p:spPr>
      </p:pic>
      <p:sp>
        <p:nvSpPr>
          <p:cNvPr id="11" name="TextBox 10"/>
          <p:cNvSpPr txBox="1"/>
          <p:nvPr userDrawn="1"/>
        </p:nvSpPr>
        <p:spPr>
          <a:xfrm>
            <a:off x="503981" y="3297372"/>
            <a:ext cx="5495603" cy="923330"/>
          </a:xfrm>
          <a:prstGeom prst="rect">
            <a:avLst/>
          </a:prstGeom>
          <a:noFill/>
        </p:spPr>
        <p:txBody>
          <a:bodyPr wrap="square" rtlCol="0">
            <a:spAutoFit/>
          </a:bodyPr>
          <a:lstStyle/>
          <a:p>
            <a:r>
              <a:rPr lang="en-US" sz="5400">
                <a:solidFill>
                  <a:prstClr val="white"/>
                </a:solidFill>
                <a:latin typeface="Poppins" panose="02000000000000000000" pitchFamily="2" charset="0"/>
                <a:cs typeface="Poppins" panose="02000000000000000000" pitchFamily="2" charset="0"/>
              </a:rPr>
              <a:t>THANK YOU</a:t>
            </a:r>
          </a:p>
        </p:txBody>
      </p:sp>
    </p:spTree>
    <p:extLst>
      <p:ext uri="{BB962C8B-B14F-4D97-AF65-F5344CB8AC3E}">
        <p14:creationId xmlns:p14="http://schemas.microsoft.com/office/powerpoint/2010/main" val="329286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A1899A70-3933-4DBF-90EF-BA548142E849}" type="datetimeFigureOut">
              <a:rPr lang="en-IN" smtClean="0"/>
              <a:t>08-05-2019</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00C0149-F25E-4258-9874-E37679DDFFC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233" y="4829908"/>
            <a:ext cx="8557847" cy="1873742"/>
          </a:xfrm>
        </p:spPr>
        <p:txBody>
          <a:bodyPr>
            <a:normAutofit fontScale="90000"/>
          </a:bodyPr>
          <a:lstStyle/>
          <a:p>
            <a:r>
              <a:rPr lang="en-IN" dirty="0" smtClean="0">
                <a:solidFill>
                  <a:schemeClr val="tx1"/>
                </a:solidFill>
              </a:rPr>
              <a:t/>
            </a:r>
            <a:br>
              <a:rPr lang="en-IN" dirty="0" smtClean="0">
                <a:solidFill>
                  <a:schemeClr val="tx1"/>
                </a:solidFill>
              </a:rPr>
            </a:br>
            <a:r>
              <a:rPr lang="en-IN" dirty="0">
                <a:solidFill>
                  <a:schemeClr val="tx1"/>
                </a:solidFill>
              </a:rPr>
              <a:t/>
            </a:r>
            <a:br>
              <a:rPr lang="en-IN" dirty="0">
                <a:solidFill>
                  <a:schemeClr val="tx1"/>
                </a:solidFill>
              </a:rPr>
            </a:br>
            <a:r>
              <a:rPr lang="en-IN" dirty="0" smtClean="0">
                <a:solidFill>
                  <a:schemeClr val="tx1"/>
                </a:solidFill>
              </a:rPr>
              <a:t/>
            </a:r>
            <a:br>
              <a:rPr lang="en-IN" dirty="0" smtClean="0">
                <a:solidFill>
                  <a:schemeClr val="tx1"/>
                </a:solidFill>
              </a:rPr>
            </a:br>
            <a:r>
              <a:rPr lang="en-IN" dirty="0" smtClean="0">
                <a:solidFill>
                  <a:schemeClr val="tx1"/>
                </a:solidFill>
              </a:rPr>
              <a:t>Name   : </a:t>
            </a:r>
            <a:r>
              <a:rPr lang="en-IN" dirty="0" smtClean="0">
                <a:solidFill>
                  <a:schemeClr val="tx1"/>
                </a:solidFill>
              </a:rPr>
              <a:t>BARUN KUMAR</a:t>
            </a:r>
            <a:r>
              <a:rPr lang="en-IN" dirty="0" smtClean="0">
                <a:solidFill>
                  <a:schemeClr val="tx1"/>
                </a:solidFill>
              </a:rPr>
              <a:t/>
            </a:r>
            <a:br>
              <a:rPr lang="en-IN" dirty="0" smtClean="0">
                <a:solidFill>
                  <a:schemeClr val="tx1"/>
                </a:solidFill>
              </a:rPr>
            </a:br>
            <a:r>
              <a:rPr lang="en-IN" dirty="0" smtClean="0">
                <a:solidFill>
                  <a:schemeClr val="tx1"/>
                </a:solidFill>
              </a:rPr>
              <a:t>Roll </a:t>
            </a:r>
            <a:r>
              <a:rPr lang="en-IN" dirty="0" smtClean="0">
                <a:solidFill>
                  <a:schemeClr val="tx1"/>
                </a:solidFill>
              </a:rPr>
              <a:t>no. : 18125760015</a:t>
            </a:r>
            <a:endParaRPr lang="en-IN" dirty="0">
              <a:solidFill>
                <a:schemeClr val="tx1"/>
              </a:solidFill>
            </a:endParaRPr>
          </a:p>
        </p:txBody>
      </p:sp>
      <p:sp>
        <p:nvSpPr>
          <p:cNvPr id="2" name="TextBox 1"/>
          <p:cNvSpPr txBox="1"/>
          <p:nvPr/>
        </p:nvSpPr>
        <p:spPr>
          <a:xfrm>
            <a:off x="287383" y="195944"/>
            <a:ext cx="4650379" cy="707886"/>
          </a:xfrm>
          <a:prstGeom prst="rect">
            <a:avLst/>
          </a:prstGeom>
          <a:noFill/>
        </p:spPr>
        <p:txBody>
          <a:bodyPr wrap="square" rtlCol="0">
            <a:spAutoFit/>
          </a:bodyPr>
          <a:lstStyle/>
          <a:p>
            <a:r>
              <a:rPr lang="en-IN" sz="4000" b="1" dirty="0" smtClean="0"/>
              <a:t>Mid Term Report</a:t>
            </a:r>
            <a:endParaRPr lang="en-IN" sz="4000" b="1" dirty="0"/>
          </a:p>
        </p:txBody>
      </p:sp>
    </p:spTree>
    <p:extLst>
      <p:ext uri="{BB962C8B-B14F-4D97-AF65-F5344CB8AC3E}">
        <p14:creationId xmlns:p14="http://schemas.microsoft.com/office/powerpoint/2010/main" val="40250592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1143" y="1450769"/>
            <a:ext cx="10554574" cy="3341229"/>
          </a:xfrm>
        </p:spPr>
        <p:txBody>
          <a:bodyPr>
            <a:normAutofit/>
          </a:bodyPr>
          <a:lstStyle/>
          <a:p>
            <a:pPr marL="0" indent="0">
              <a:buNone/>
            </a:pPr>
            <a:r>
              <a:rPr lang="en-US" sz="8000" b="1" dirty="0"/>
              <a:t>D</a:t>
            </a:r>
            <a:r>
              <a:rPr lang="en-US" sz="8000" b="1" dirty="0" smtClean="0"/>
              <a:t>efault </a:t>
            </a:r>
            <a:r>
              <a:rPr lang="en-US" sz="8000" b="1" dirty="0"/>
              <a:t>of </a:t>
            </a:r>
            <a:r>
              <a:rPr lang="en-US" sz="8000" b="1" dirty="0" smtClean="0"/>
              <a:t>Credit        Card </a:t>
            </a:r>
            <a:r>
              <a:rPr lang="en-US" sz="8000" b="1" dirty="0"/>
              <a:t>C</a:t>
            </a:r>
            <a:r>
              <a:rPr lang="en-US" sz="8000" b="1" dirty="0" smtClean="0"/>
              <a:t>lients</a:t>
            </a:r>
            <a:endParaRPr lang="en-US" sz="8000" dirty="0"/>
          </a:p>
        </p:txBody>
      </p:sp>
    </p:spTree>
    <p:extLst>
      <p:ext uri="{BB962C8B-B14F-4D97-AF65-F5344CB8AC3E}">
        <p14:creationId xmlns:p14="http://schemas.microsoft.com/office/powerpoint/2010/main" val="1293431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262" y="447188"/>
            <a:ext cx="10930736" cy="970450"/>
          </a:xfrm>
        </p:spPr>
        <p:txBody>
          <a:bodyPr/>
          <a:lstStyle/>
          <a:p>
            <a:r>
              <a:rPr lang="en-US" sz="5400" dirty="0" smtClean="0"/>
              <a:t>Problem Statement</a:t>
            </a:r>
            <a:endParaRPr lang="en-US" sz="5400" dirty="0"/>
          </a:p>
        </p:txBody>
      </p:sp>
      <p:sp>
        <p:nvSpPr>
          <p:cNvPr id="3" name="Content Placeholder 2"/>
          <p:cNvSpPr>
            <a:spLocks noGrp="1"/>
          </p:cNvSpPr>
          <p:nvPr>
            <p:ph idx="1"/>
          </p:nvPr>
        </p:nvSpPr>
        <p:spPr>
          <a:xfrm>
            <a:off x="296883" y="1488831"/>
            <a:ext cx="11507189" cy="5369168"/>
          </a:xfrm>
        </p:spPr>
        <p:txBody>
          <a:bodyPr>
            <a:normAutofit/>
          </a:bodyPr>
          <a:lstStyle/>
          <a:p>
            <a:r>
              <a:rPr lang="en-US" sz="2200" dirty="0" smtClean="0"/>
              <a:t>The </a:t>
            </a:r>
            <a:r>
              <a:rPr lang="en-US" sz="2200" dirty="0"/>
              <a:t>problem finding the patterns in customer behaviors that help predicting if a customer have a chance of getting his credit card defaulted before the 6 months period. By applying the right algorithm and parameters we can get a prediction on the 5th month or even 4th month to know if the customer have high chance of getting his credit card </a:t>
            </a:r>
            <a:r>
              <a:rPr lang="en-US" sz="2200" dirty="0" smtClean="0"/>
              <a:t>defaulted</a:t>
            </a:r>
          </a:p>
          <a:p>
            <a:r>
              <a:rPr lang="en-US" sz="2200" dirty="0"/>
              <a:t>This research aimed at the case of customers default payments in Taiwan and compares the predictive accuracy of probability of default among six data mining methods. </a:t>
            </a:r>
          </a:p>
        </p:txBody>
      </p:sp>
    </p:spTree>
    <p:extLst>
      <p:ext uri="{BB962C8B-B14F-4D97-AF65-F5344CB8AC3E}">
        <p14:creationId xmlns:p14="http://schemas.microsoft.com/office/powerpoint/2010/main" val="2996486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6" y="447188"/>
            <a:ext cx="10966362" cy="970450"/>
          </a:xfrm>
        </p:spPr>
        <p:txBody>
          <a:bodyPr/>
          <a:lstStyle/>
          <a:p>
            <a:r>
              <a:rPr lang="en-US" sz="5400" dirty="0" smtClean="0"/>
              <a:t>Business Understanding</a:t>
            </a:r>
            <a:endParaRPr lang="en-US" sz="5400" dirty="0"/>
          </a:p>
        </p:txBody>
      </p:sp>
      <p:sp>
        <p:nvSpPr>
          <p:cNvPr id="3" name="Content Placeholder 2"/>
          <p:cNvSpPr>
            <a:spLocks noGrp="1"/>
          </p:cNvSpPr>
          <p:nvPr>
            <p:ph idx="1"/>
          </p:nvPr>
        </p:nvSpPr>
        <p:spPr>
          <a:xfrm>
            <a:off x="320634" y="1477108"/>
            <a:ext cx="11871365" cy="5122984"/>
          </a:xfrm>
        </p:spPr>
        <p:txBody>
          <a:bodyPr>
            <a:normAutofit/>
          </a:bodyPr>
          <a:lstStyle/>
          <a:p>
            <a:r>
              <a:rPr lang="en-US" sz="2200" dirty="0"/>
              <a:t>Banks consider the denial of credit applications to risky customers an important priority in order to avoid undesirable decisions and consequences, like granting a customer a credit limit increase to risky customers. For example, a customer who has skipped making the minimum payment for several months. In such case, the credit card should be set to default after the customer has failed to make a payment for 6 months in a row. A credit default is a credit status applied when a customer fails to make the minimum payment for 6 months.</a:t>
            </a:r>
          </a:p>
          <a:p>
            <a:r>
              <a:rPr lang="en-US" sz="2200" dirty="0"/>
              <a:t>Risk Management is important field in Banking, and when we are talking about credit cards, credit risk management will be the first line of defense for any credit decision. Performing credit risk management correctly allows banks to minimize the risk associated with credit </a:t>
            </a:r>
            <a:r>
              <a:rPr lang="en-US" sz="2200" dirty="0" smtClean="0"/>
              <a:t>cards.</a:t>
            </a:r>
            <a:endParaRPr lang="en-US" sz="2200" dirty="0"/>
          </a:p>
          <a:p>
            <a:endParaRPr lang="en-US" dirty="0"/>
          </a:p>
        </p:txBody>
      </p:sp>
    </p:spTree>
    <p:extLst>
      <p:ext uri="{BB962C8B-B14F-4D97-AF65-F5344CB8AC3E}">
        <p14:creationId xmlns:p14="http://schemas.microsoft.com/office/powerpoint/2010/main" val="4239773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1" y="274638"/>
            <a:ext cx="11160369" cy="1143000"/>
          </a:xfrm>
        </p:spPr>
        <p:txBody>
          <a:bodyPr/>
          <a:lstStyle/>
          <a:p>
            <a:r>
              <a:rPr lang="en-US" sz="5400" dirty="0" smtClean="0"/>
              <a:t>Approach</a:t>
            </a:r>
            <a:endParaRPr lang="en-US" sz="5400" dirty="0"/>
          </a:p>
        </p:txBody>
      </p:sp>
      <p:sp>
        <p:nvSpPr>
          <p:cNvPr id="3" name="Content Placeholder 2"/>
          <p:cNvSpPr>
            <a:spLocks noGrp="1"/>
          </p:cNvSpPr>
          <p:nvPr>
            <p:ph idx="1"/>
          </p:nvPr>
        </p:nvSpPr>
        <p:spPr>
          <a:xfrm>
            <a:off x="249382" y="1606061"/>
            <a:ext cx="11744696" cy="4937243"/>
          </a:xfrm>
        </p:spPr>
        <p:txBody>
          <a:bodyPr>
            <a:normAutofit/>
          </a:bodyPr>
          <a:lstStyle/>
          <a:p>
            <a:r>
              <a:rPr lang="en-US" sz="2200" dirty="0"/>
              <a:t>The Goal is to train a model with the capability to minimize the risk by making predictions based on the dataset. </a:t>
            </a:r>
            <a:endParaRPr lang="en-US" sz="2200" dirty="0" smtClean="0"/>
          </a:p>
          <a:p>
            <a:r>
              <a:rPr lang="en-US" sz="2200" dirty="0" smtClean="0"/>
              <a:t>The </a:t>
            </a:r>
            <a:r>
              <a:rPr lang="en-US" sz="2200" dirty="0"/>
              <a:t>model predicts whether a late-paying customer will only be late for a limited duration (1 or 2 months), or if this customer is predicted not to make a payment at all. </a:t>
            </a:r>
            <a:endParaRPr lang="en-US" sz="2200" dirty="0" smtClean="0"/>
          </a:p>
          <a:p>
            <a:r>
              <a:rPr lang="en-US" sz="2200" dirty="0" smtClean="0"/>
              <a:t>This </a:t>
            </a:r>
            <a:r>
              <a:rPr lang="en-US" sz="2200" dirty="0"/>
              <a:t>makes it a classification problem.</a:t>
            </a:r>
            <a:endParaRPr lang="en-US" sz="2200" dirty="0"/>
          </a:p>
        </p:txBody>
      </p:sp>
    </p:spTree>
    <p:extLst>
      <p:ext uri="{BB962C8B-B14F-4D97-AF65-F5344CB8AC3E}">
        <p14:creationId xmlns:p14="http://schemas.microsoft.com/office/powerpoint/2010/main" val="2562544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447188"/>
            <a:ext cx="11135813" cy="970450"/>
          </a:xfrm>
        </p:spPr>
        <p:txBody>
          <a:bodyPr/>
          <a:lstStyle/>
          <a:p>
            <a:r>
              <a:rPr lang="en-US" sz="5400" dirty="0" smtClean="0"/>
              <a:t>Data Understanding</a:t>
            </a:r>
            <a:endParaRPr lang="en-US" sz="5400" dirty="0"/>
          </a:p>
        </p:txBody>
      </p:sp>
      <p:sp>
        <p:nvSpPr>
          <p:cNvPr id="3" name="Content Placeholder 2"/>
          <p:cNvSpPr>
            <a:spLocks noGrp="1"/>
          </p:cNvSpPr>
          <p:nvPr>
            <p:ph idx="1"/>
          </p:nvPr>
        </p:nvSpPr>
        <p:spPr>
          <a:xfrm>
            <a:off x="142505" y="1570892"/>
            <a:ext cx="11946576" cy="4913035"/>
          </a:xfrm>
        </p:spPr>
        <p:txBody>
          <a:bodyPr>
            <a:noAutofit/>
          </a:bodyPr>
          <a:lstStyle/>
          <a:p>
            <a:r>
              <a:rPr lang="en-US" sz="2100" dirty="0"/>
              <a:t>The dataset that will be used for this project is the “Default of Credit Card Clients Dataset. </a:t>
            </a:r>
          </a:p>
          <a:p>
            <a:r>
              <a:rPr lang="en-US" sz="2100" dirty="0"/>
              <a:t>Dataset portrays information about a bank’s credit card clients along with their marital status, their balance limit, education, when they paid respective bill amounts.</a:t>
            </a:r>
          </a:p>
          <a:p>
            <a:r>
              <a:rPr lang="en-US" sz="2100" dirty="0"/>
              <a:t>Size: 30000 instances, 23 predictors and a response variable.</a:t>
            </a:r>
          </a:p>
          <a:p>
            <a:r>
              <a:rPr lang="en-US" sz="2100" dirty="0"/>
              <a:t>No missing values</a:t>
            </a:r>
          </a:p>
          <a:p>
            <a:r>
              <a:rPr lang="en-US" sz="2100" dirty="0"/>
              <a:t>Error in the naming of variable Pay_0, it was changed to Pay_1</a:t>
            </a:r>
          </a:p>
          <a:p>
            <a:r>
              <a:rPr lang="en-US" sz="2100" dirty="0"/>
              <a:t>Certain numeric attributes were converted to nominal.</a:t>
            </a:r>
          </a:p>
          <a:p>
            <a:pPr marL="400050" lvl="1" indent="0">
              <a:buNone/>
            </a:pPr>
            <a:r>
              <a:rPr lang="en-US" sz="2100" dirty="0"/>
              <a:t>Nominal attributes include: SEX, EDUCATION, MARRIAGE, PAY_1 to Pay_6 &amp; default payment next month</a:t>
            </a:r>
          </a:p>
          <a:p>
            <a:r>
              <a:rPr lang="en-US" sz="2100" dirty="0"/>
              <a:t>In the education variable, the values ‘0,4,5,6’ are combined to one value as value ‘4’</a:t>
            </a:r>
            <a:endParaRPr lang="en-US" sz="2100" dirty="0"/>
          </a:p>
        </p:txBody>
      </p:sp>
    </p:spTree>
    <p:extLst>
      <p:ext uri="{BB962C8B-B14F-4D97-AF65-F5344CB8AC3E}">
        <p14:creationId xmlns:p14="http://schemas.microsoft.com/office/powerpoint/2010/main" val="78433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127" y="164123"/>
            <a:ext cx="11970327" cy="6604812"/>
          </a:xfrm>
        </p:spPr>
        <p:txBody>
          <a:bodyPr>
            <a:normAutofit/>
          </a:bodyPr>
          <a:lstStyle/>
          <a:p>
            <a:r>
              <a:rPr lang="en-US" sz="2200" dirty="0"/>
              <a:t>This research employed a binary variable, default payment (Yes = 1, No = 0), as the response variable. This study reviewed the literature and used the following 23 variables as explanatory variables: </a:t>
            </a:r>
          </a:p>
          <a:p>
            <a:r>
              <a:rPr lang="en-US" sz="2200" dirty="0"/>
              <a:t>X1: Amount of the given credit (NT dollar): it includes both the individual consumer credit and his/her family (supplementary) credit. </a:t>
            </a:r>
          </a:p>
          <a:p>
            <a:r>
              <a:rPr lang="en-US" sz="2200" dirty="0"/>
              <a:t>X2: Gender (1 = male; 2 = female). </a:t>
            </a:r>
          </a:p>
          <a:p>
            <a:r>
              <a:rPr lang="en-US" sz="2200" dirty="0"/>
              <a:t>X3: Education (1 = graduate school; 2 = university; 3 = high school; 4 = others). </a:t>
            </a:r>
          </a:p>
          <a:p>
            <a:r>
              <a:rPr lang="en-US" sz="2200" dirty="0"/>
              <a:t>X4: Marital status (1 = married; 2 = single; 3 = others). </a:t>
            </a:r>
          </a:p>
          <a:p>
            <a:r>
              <a:rPr lang="en-US" sz="2200" dirty="0"/>
              <a:t>X5: Age (year). </a:t>
            </a:r>
            <a:endParaRPr lang="en-US" sz="2200" dirty="0" smtClean="0"/>
          </a:p>
        </p:txBody>
      </p:sp>
    </p:spTree>
    <p:extLst>
      <p:ext uri="{BB962C8B-B14F-4D97-AF65-F5344CB8AC3E}">
        <p14:creationId xmlns:p14="http://schemas.microsoft.com/office/powerpoint/2010/main" val="46808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99293"/>
            <a:ext cx="12192000" cy="6658708"/>
          </a:xfrm>
        </p:spPr>
        <p:txBody>
          <a:bodyPr>
            <a:normAutofit/>
          </a:bodyPr>
          <a:lstStyle/>
          <a:p>
            <a:r>
              <a:rPr lang="en-US" sz="2200" dirty="0"/>
              <a:t>X6 - X11: History of past payment. We tracked the past monthly payment records (from April to September, 2005) as follows: X6 = the repayment status in September, 2005; X7 = the repayment status in August, 2005; . . .;X11 = the repayment status in April, 2005. The measurement scale for the repayment status is: -1 = pay duly; 1 = payment delay for one month; 2 = payment delay for two months; . . .; 8 = payment delay for eight months; 9 = payment delay for nine months and above. </a:t>
            </a:r>
          </a:p>
          <a:p>
            <a:r>
              <a:rPr lang="en-US" sz="2200" dirty="0"/>
              <a:t>X12-X17: Amount of bill statement (NT dollar). X12 = amount of bill statement in September, 2005; X13 = amount of bill statement in August, 2005; . . .; X17 = amount of bill statement in April, 2005. </a:t>
            </a:r>
          </a:p>
          <a:p>
            <a:r>
              <a:rPr lang="en-US" sz="2200" dirty="0"/>
              <a:t>X18-X23: Amount of previous payment (NT dollar). X18 = amount paid in September, 2005; X19 = amount paid in August, 2005; . . .;X23 = amount paid in April, 2005.</a:t>
            </a:r>
          </a:p>
        </p:txBody>
      </p:sp>
    </p:spTree>
    <p:extLst>
      <p:ext uri="{BB962C8B-B14F-4D97-AF65-F5344CB8AC3E}">
        <p14:creationId xmlns:p14="http://schemas.microsoft.com/office/powerpoint/2010/main" val="2516433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smtClean="0"/>
              <a:t>Dataset Summary</a:t>
            </a:r>
            <a:endParaRPr lang="en-US" sz="5400" dirty="0"/>
          </a:p>
        </p:txBody>
      </p:sp>
      <p:sp>
        <p:nvSpPr>
          <p:cNvPr id="3" name="Content Placeholder 2"/>
          <p:cNvSpPr>
            <a:spLocks noGrp="1"/>
          </p:cNvSpPr>
          <p:nvPr>
            <p:ph idx="1"/>
          </p:nvPr>
        </p:nvSpPr>
        <p:spPr>
          <a:xfrm>
            <a:off x="1" y="2222287"/>
            <a:ext cx="12053454" cy="4635713"/>
          </a:xfrm>
        </p:spPr>
        <p:txBody>
          <a:bodyPr/>
          <a:lstStyle/>
          <a:p>
            <a:endParaRPr lang="en-US" dirty="0"/>
          </a:p>
        </p:txBody>
      </p:sp>
    </p:spTree>
    <p:extLst>
      <p:ext uri="{BB962C8B-B14F-4D97-AF65-F5344CB8AC3E}">
        <p14:creationId xmlns:p14="http://schemas.microsoft.com/office/powerpoint/2010/main" val="2027437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Data Exploration</a:t>
            </a:r>
            <a:endParaRPr lang="en-US" dirty="0"/>
          </a:p>
        </p:txBody>
      </p:sp>
      <p:sp>
        <p:nvSpPr>
          <p:cNvPr id="3" name="Content Placeholder 2"/>
          <p:cNvSpPr>
            <a:spLocks noGrp="1"/>
          </p:cNvSpPr>
          <p:nvPr>
            <p:ph idx="1"/>
          </p:nvPr>
        </p:nvSpPr>
        <p:spPr>
          <a:xfrm>
            <a:off x="1379150" y="1534028"/>
            <a:ext cx="10554574" cy="3636511"/>
          </a:xfrm>
        </p:spPr>
        <p:txBody>
          <a:bodyPr/>
          <a:lstStyle/>
          <a:p>
            <a:r>
              <a:rPr lang="en-US" dirty="0" smtClean="0"/>
              <a:t>All attributes have numeric set of values</a:t>
            </a:r>
          </a:p>
          <a:p>
            <a:r>
              <a:rPr lang="en-US" dirty="0" smtClean="0"/>
              <a:t>The dataset is of the form (n&gt;p) where n= number</a:t>
            </a:r>
          </a:p>
          <a:p>
            <a:pPr marL="0" indent="0">
              <a:buNone/>
            </a:pPr>
            <a:r>
              <a:rPr lang="en-US" dirty="0" smtClean="0"/>
              <a:t> of instances and p= number of attributes.</a:t>
            </a:r>
          </a:p>
          <a:p>
            <a:r>
              <a:rPr lang="en-US" dirty="0" smtClean="0"/>
              <a:t>Skewness: </a:t>
            </a:r>
            <a:r>
              <a:rPr lang="en-US" dirty="0" smtClean="0">
                <a:ea typeface="Calibri" panose="020F0502020204030204" pitchFamily="34" charset="0"/>
                <a:cs typeface="Times New Roman" panose="02020603050405020304" pitchFamily="18" charset="0"/>
              </a:rPr>
              <a:t>1.3435, thus it is right skewed. </a:t>
            </a:r>
          </a:p>
          <a:p>
            <a:r>
              <a:rPr lang="en-US" dirty="0" smtClean="0"/>
              <a:t>Kurtosis: -0.19501, it represents a flatter distribution</a:t>
            </a:r>
          </a:p>
          <a:p>
            <a:pPr marL="0" indent="0">
              <a:buNone/>
            </a:pPr>
            <a:r>
              <a:rPr lang="en-US" dirty="0" smtClean="0"/>
              <a:t> compared to Gaussian distribution</a:t>
            </a:r>
            <a:endParaRPr lang="en-US" dirty="0"/>
          </a:p>
        </p:txBody>
      </p:sp>
      <p:pic>
        <p:nvPicPr>
          <p:cNvPr id="4" name="Picture 3" descr="C:\Karan\KDD\Projetcs\Project 2\figure_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4770" y="4695394"/>
            <a:ext cx="3170520" cy="1950720"/>
          </a:xfrm>
          <a:prstGeom prst="rect">
            <a:avLst/>
          </a:prstGeom>
          <a:noFill/>
          <a:ln>
            <a:noFill/>
          </a:ln>
        </p:spPr>
      </p:pic>
      <p:pic>
        <p:nvPicPr>
          <p:cNvPr id="5" name="Picture 4"/>
          <p:cNvPicPr>
            <a:picLocks noChangeAspect="1"/>
          </p:cNvPicPr>
          <p:nvPr/>
        </p:nvPicPr>
        <p:blipFill>
          <a:blip r:embed="rId3"/>
          <a:stretch>
            <a:fillRect/>
          </a:stretch>
        </p:blipFill>
        <p:spPr>
          <a:xfrm>
            <a:off x="7455489" y="2186225"/>
            <a:ext cx="4736511" cy="3317014"/>
          </a:xfrm>
          <a:prstGeom prst="rect">
            <a:avLst/>
          </a:prstGeom>
        </p:spPr>
      </p:pic>
      <p:sp>
        <p:nvSpPr>
          <p:cNvPr id="6" name="TextBox 5"/>
          <p:cNvSpPr txBox="1"/>
          <p:nvPr/>
        </p:nvSpPr>
        <p:spPr>
          <a:xfrm>
            <a:off x="7659329" y="5889523"/>
            <a:ext cx="4119716" cy="369332"/>
          </a:xfrm>
          <a:prstGeom prst="rect">
            <a:avLst/>
          </a:prstGeom>
          <a:noFill/>
        </p:spPr>
        <p:txBody>
          <a:bodyPr wrap="square" rtlCol="0">
            <a:spAutoFit/>
          </a:bodyPr>
          <a:lstStyle/>
          <a:p>
            <a:r>
              <a:rPr lang="en-US" dirty="0" smtClean="0"/>
              <a:t>Correlation Matrix of Data Set</a:t>
            </a:r>
            <a:endParaRPr lang="en-US" dirty="0"/>
          </a:p>
        </p:txBody>
      </p:sp>
    </p:spTree>
    <p:extLst>
      <p:ext uri="{BB962C8B-B14F-4D97-AF65-F5344CB8AC3E}">
        <p14:creationId xmlns:p14="http://schemas.microsoft.com/office/powerpoint/2010/main" val="2623577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Data Exploration</a:t>
            </a:r>
            <a:endParaRPr lang="en-US" dirty="0"/>
          </a:p>
        </p:txBody>
      </p:sp>
      <p:sp>
        <p:nvSpPr>
          <p:cNvPr id="3" name="Content Placeholder 2"/>
          <p:cNvSpPr>
            <a:spLocks noGrp="1"/>
          </p:cNvSpPr>
          <p:nvPr>
            <p:ph idx="1"/>
          </p:nvPr>
        </p:nvSpPr>
        <p:spPr>
          <a:xfrm>
            <a:off x="810000" y="1524197"/>
            <a:ext cx="10554574" cy="3636511"/>
          </a:xfrm>
        </p:spPr>
        <p:txBody>
          <a:bodyPr/>
          <a:lstStyle/>
          <a:p>
            <a:r>
              <a:rPr lang="en-US" dirty="0" smtClean="0"/>
              <a:t>A count of the number of defaults is generated against age groups</a:t>
            </a:r>
          </a:p>
          <a:p>
            <a:r>
              <a:rPr lang="en-US" dirty="0" smtClean="0"/>
              <a:t>The younger age groups have been observed to default more than the other age groups.</a:t>
            </a:r>
          </a:p>
          <a:p>
            <a:endParaRPr lang="en-US" dirty="0"/>
          </a:p>
        </p:txBody>
      </p:sp>
      <p:pic>
        <p:nvPicPr>
          <p:cNvPr id="4" name="Picture 3" descr="C:\Karan\KDD\Projetcs\Project 2\Capture.PNG"/>
          <p:cNvPicPr/>
          <p:nvPr/>
        </p:nvPicPr>
        <p:blipFill>
          <a:blip r:embed="rId2">
            <a:extLst>
              <a:ext uri="{28A0092B-C50C-407E-A947-70E740481C1C}">
                <a14:useLocalDpi xmlns:a14="http://schemas.microsoft.com/office/drawing/2010/main" val="0"/>
              </a:ext>
            </a:extLst>
          </a:blip>
          <a:srcRect/>
          <a:stretch>
            <a:fillRect/>
          </a:stretch>
        </p:blipFill>
        <p:spPr bwMode="auto">
          <a:xfrm>
            <a:off x="483604" y="4191307"/>
            <a:ext cx="2307944" cy="1509618"/>
          </a:xfrm>
          <a:prstGeom prst="rect">
            <a:avLst/>
          </a:prstGeom>
          <a:noFill/>
          <a:ln>
            <a:noFill/>
          </a:ln>
        </p:spPr>
      </p:pic>
      <p:pic>
        <p:nvPicPr>
          <p:cNvPr id="5" name="Picture 4" descr="C:\Karan\KDD\Projetcs\Project 2\Capture1.PNG"/>
          <p:cNvPicPr/>
          <p:nvPr/>
        </p:nvPicPr>
        <p:blipFill>
          <a:blip r:embed="rId3">
            <a:extLst>
              <a:ext uri="{28A0092B-C50C-407E-A947-70E740481C1C}">
                <a14:useLocalDpi xmlns:a14="http://schemas.microsoft.com/office/drawing/2010/main" val="0"/>
              </a:ext>
            </a:extLst>
          </a:blip>
          <a:srcRect/>
          <a:stretch>
            <a:fillRect/>
          </a:stretch>
        </p:blipFill>
        <p:spPr bwMode="auto">
          <a:xfrm>
            <a:off x="2976229" y="4199356"/>
            <a:ext cx="2061989" cy="1501569"/>
          </a:xfrm>
          <a:prstGeom prst="rect">
            <a:avLst/>
          </a:prstGeom>
          <a:noFill/>
          <a:ln>
            <a:noFill/>
          </a:ln>
        </p:spPr>
      </p:pic>
      <p:pic>
        <p:nvPicPr>
          <p:cNvPr id="6" name="Picture 5" descr="C:\Karan\KDD\Projetcs\Project 2\Capture2.PNG"/>
          <p:cNvPicPr/>
          <p:nvPr/>
        </p:nvPicPr>
        <p:blipFill>
          <a:blip r:embed="rId4">
            <a:extLst>
              <a:ext uri="{28A0092B-C50C-407E-A947-70E740481C1C}">
                <a14:useLocalDpi xmlns:a14="http://schemas.microsoft.com/office/drawing/2010/main" val="0"/>
              </a:ext>
            </a:extLst>
          </a:blip>
          <a:srcRect/>
          <a:stretch>
            <a:fillRect/>
          </a:stretch>
        </p:blipFill>
        <p:spPr bwMode="auto">
          <a:xfrm>
            <a:off x="5230752" y="4191307"/>
            <a:ext cx="1983333" cy="1501568"/>
          </a:xfrm>
          <a:prstGeom prst="rect">
            <a:avLst/>
          </a:prstGeom>
          <a:noFill/>
          <a:ln>
            <a:noFill/>
          </a:ln>
        </p:spPr>
      </p:pic>
      <p:pic>
        <p:nvPicPr>
          <p:cNvPr id="7" name="Picture 6" descr="C:\Karan\KDD\Projetcs\Project 2\Capture3.PNG"/>
          <p:cNvPicPr/>
          <p:nvPr/>
        </p:nvPicPr>
        <p:blipFill>
          <a:blip r:embed="rId5">
            <a:extLst>
              <a:ext uri="{28A0092B-C50C-407E-A947-70E740481C1C}">
                <a14:useLocalDpi xmlns:a14="http://schemas.microsoft.com/office/drawing/2010/main" val="0"/>
              </a:ext>
            </a:extLst>
          </a:blip>
          <a:srcRect/>
          <a:stretch>
            <a:fillRect/>
          </a:stretch>
        </p:blipFill>
        <p:spPr bwMode="auto">
          <a:xfrm>
            <a:off x="7406619" y="4183256"/>
            <a:ext cx="2150482" cy="1509617"/>
          </a:xfrm>
          <a:prstGeom prst="rect">
            <a:avLst/>
          </a:prstGeom>
          <a:noFill/>
          <a:ln>
            <a:noFill/>
          </a:ln>
        </p:spPr>
      </p:pic>
      <p:pic>
        <p:nvPicPr>
          <p:cNvPr id="8" name="Picture 7" descr="C:\Karan\KDD\Projetcs\Project 2\Capture4.PNG"/>
          <p:cNvPicPr/>
          <p:nvPr/>
        </p:nvPicPr>
        <p:blipFill>
          <a:blip r:embed="rId6">
            <a:extLst>
              <a:ext uri="{28A0092B-C50C-407E-A947-70E740481C1C}">
                <a14:useLocalDpi xmlns:a14="http://schemas.microsoft.com/office/drawing/2010/main" val="0"/>
              </a:ext>
            </a:extLst>
          </a:blip>
          <a:srcRect/>
          <a:stretch>
            <a:fillRect/>
          </a:stretch>
        </p:blipFill>
        <p:spPr bwMode="auto">
          <a:xfrm>
            <a:off x="9749635" y="4183255"/>
            <a:ext cx="2123768" cy="1509617"/>
          </a:xfrm>
          <a:prstGeom prst="rect">
            <a:avLst/>
          </a:prstGeom>
          <a:noFill/>
          <a:ln>
            <a:noFill/>
          </a:ln>
        </p:spPr>
      </p:pic>
    </p:spTree>
    <p:extLst>
      <p:ext uri="{BB962C8B-B14F-4D97-AF65-F5344CB8AC3E}">
        <p14:creationId xmlns:p14="http://schemas.microsoft.com/office/powerpoint/2010/main" val="129774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Data Processing</a:t>
            </a:r>
            <a:endParaRPr lang="en-US" dirty="0"/>
          </a:p>
        </p:txBody>
      </p:sp>
      <p:sp>
        <p:nvSpPr>
          <p:cNvPr id="3" name="Content Placeholder 2"/>
          <p:cNvSpPr>
            <a:spLocks noGrp="1"/>
          </p:cNvSpPr>
          <p:nvPr>
            <p:ph idx="1"/>
          </p:nvPr>
        </p:nvSpPr>
        <p:spPr/>
        <p:txBody>
          <a:bodyPr/>
          <a:lstStyle/>
          <a:p>
            <a:r>
              <a:rPr lang="en-US" dirty="0"/>
              <a:t>T</a:t>
            </a:r>
            <a:r>
              <a:rPr lang="en-US" dirty="0" smtClean="0"/>
              <a:t>he </a:t>
            </a:r>
            <a:r>
              <a:rPr lang="en-US" dirty="0"/>
              <a:t>attribute name ‘PAY_0’ was converted to ‘PAY_1</a:t>
            </a:r>
            <a:r>
              <a:rPr lang="en-US" dirty="0" smtClean="0"/>
              <a:t>’ for naming convenience.</a:t>
            </a:r>
          </a:p>
          <a:p>
            <a:r>
              <a:rPr lang="en-US" dirty="0" smtClean="0"/>
              <a:t>Numeric attributes were converted to nominal.</a:t>
            </a:r>
          </a:p>
          <a:p>
            <a:r>
              <a:rPr lang="en-US" dirty="0"/>
              <a:t>V</a:t>
            </a:r>
            <a:r>
              <a:rPr lang="en-US" dirty="0" smtClean="0"/>
              <a:t>alues </a:t>
            </a:r>
            <a:r>
              <a:rPr lang="en-US" dirty="0"/>
              <a:t>in the ‘EDUCATION’ variable was grouped such that the values ‘0,4,5,6’ was combined to one value and assigned a value ‘4</a:t>
            </a:r>
            <a:r>
              <a:rPr lang="en-US" dirty="0" smtClean="0"/>
              <a:t>’.</a:t>
            </a:r>
          </a:p>
          <a:p>
            <a:r>
              <a:rPr lang="en-US" dirty="0" smtClean="0"/>
              <a:t>For all classification tasks, target variable was converted to numeric.</a:t>
            </a:r>
          </a:p>
          <a:p>
            <a:endParaRPr lang="en-US" dirty="0"/>
          </a:p>
        </p:txBody>
      </p:sp>
    </p:spTree>
    <p:extLst>
      <p:ext uri="{BB962C8B-B14F-4D97-AF65-F5344CB8AC3E}">
        <p14:creationId xmlns:p14="http://schemas.microsoft.com/office/powerpoint/2010/main" val="4259066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Weka Code Description (J4.8)</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First, </a:t>
            </a:r>
            <a:r>
              <a:rPr lang="en-US" dirty="0" err="1" smtClean="0"/>
              <a:t>BuildTree</a:t>
            </a:r>
            <a:r>
              <a:rPr lang="en-US" dirty="0" smtClean="0"/>
              <a:t> </a:t>
            </a:r>
            <a:r>
              <a:rPr lang="en-US" dirty="0"/>
              <a:t>Function is </a:t>
            </a:r>
            <a:r>
              <a:rPr lang="en-US" dirty="0" smtClean="0"/>
              <a:t>implemented</a:t>
            </a:r>
          </a:p>
          <a:p>
            <a:r>
              <a:rPr lang="en-US" dirty="0" smtClean="0"/>
              <a:t> It </a:t>
            </a:r>
            <a:r>
              <a:rPr lang="en-US" dirty="0"/>
              <a:t>checks whether instances belong to one </a:t>
            </a:r>
            <a:r>
              <a:rPr lang="en-US" dirty="0" smtClean="0"/>
              <a:t>class or not</a:t>
            </a:r>
          </a:p>
          <a:p>
            <a:r>
              <a:rPr lang="en-US" dirty="0"/>
              <a:t>C</a:t>
            </a:r>
            <a:r>
              <a:rPr lang="en-US" dirty="0" smtClean="0"/>
              <a:t>hecks </a:t>
            </a:r>
            <a:r>
              <a:rPr lang="en-US" dirty="0"/>
              <a:t>the basic parameters like whether the target is </a:t>
            </a:r>
            <a:r>
              <a:rPr lang="en-US" dirty="0" smtClean="0"/>
              <a:t>nominal</a:t>
            </a:r>
          </a:p>
          <a:p>
            <a:r>
              <a:rPr lang="en-US" dirty="0" err="1" smtClean="0"/>
              <a:t>BuildClassifier</a:t>
            </a:r>
            <a:r>
              <a:rPr lang="en-US" dirty="0" smtClean="0"/>
              <a:t> </a:t>
            </a:r>
            <a:r>
              <a:rPr lang="en-US" dirty="0"/>
              <a:t>function creates model for each </a:t>
            </a:r>
            <a:r>
              <a:rPr lang="en-US" dirty="0" smtClean="0"/>
              <a:t>attribute</a:t>
            </a:r>
          </a:p>
          <a:p>
            <a:r>
              <a:rPr lang="en-US" dirty="0" smtClean="0"/>
              <a:t>For </a:t>
            </a:r>
            <a:r>
              <a:rPr lang="en-US" dirty="0"/>
              <a:t>numeric data, F</a:t>
            </a:r>
            <a:r>
              <a:rPr lang="en-US" dirty="0" smtClean="0"/>
              <a:t>inds the best </a:t>
            </a:r>
            <a:r>
              <a:rPr lang="en-US" dirty="0"/>
              <a:t>spit </a:t>
            </a:r>
            <a:r>
              <a:rPr lang="en-US" dirty="0" smtClean="0"/>
              <a:t>point, calculate </a:t>
            </a:r>
            <a:r>
              <a:rPr lang="en-US" dirty="0"/>
              <a:t>Entropy </a:t>
            </a:r>
            <a:endParaRPr lang="en-US" dirty="0" smtClean="0"/>
          </a:p>
          <a:p>
            <a:pPr marL="0" indent="0">
              <a:buNone/>
            </a:pPr>
            <a:r>
              <a:rPr lang="en-US" dirty="0" smtClean="0"/>
              <a:t>for </a:t>
            </a:r>
            <a:r>
              <a:rPr lang="en-US" dirty="0"/>
              <a:t>each </a:t>
            </a:r>
            <a:r>
              <a:rPr lang="en-US" dirty="0" smtClean="0"/>
              <a:t>split and calculates </a:t>
            </a:r>
            <a:r>
              <a:rPr lang="en-US" dirty="0"/>
              <a:t>the </a:t>
            </a:r>
            <a:r>
              <a:rPr lang="en-US" dirty="0" smtClean="0"/>
              <a:t>Information gain</a:t>
            </a:r>
          </a:p>
          <a:p>
            <a:r>
              <a:rPr lang="en-US" dirty="0" smtClean="0"/>
              <a:t>Selects </a:t>
            </a:r>
            <a:r>
              <a:rPr lang="en-US" dirty="0"/>
              <a:t>the best </a:t>
            </a:r>
            <a:r>
              <a:rPr lang="en-US" dirty="0" smtClean="0"/>
              <a:t>gain of all and define best split point</a:t>
            </a:r>
          </a:p>
          <a:p>
            <a:r>
              <a:rPr lang="en-US" dirty="0" smtClean="0"/>
              <a:t>Info </a:t>
            </a:r>
            <a:r>
              <a:rPr lang="en-US" dirty="0"/>
              <a:t>Gain= parent entropy – child </a:t>
            </a:r>
            <a:r>
              <a:rPr lang="en-US" dirty="0" smtClean="0"/>
              <a:t>entropy</a:t>
            </a:r>
          </a:p>
          <a:p>
            <a:r>
              <a:rPr lang="en-US" dirty="0" smtClean="0"/>
              <a:t>Using </a:t>
            </a:r>
            <a:r>
              <a:rPr lang="en-US" dirty="0"/>
              <a:t>best split point, split into subsets using Split </a:t>
            </a:r>
            <a:r>
              <a:rPr lang="en-US" dirty="0" smtClean="0"/>
              <a:t>function then </a:t>
            </a:r>
            <a:r>
              <a:rPr lang="en-US" dirty="0"/>
              <a:t>recursively </a:t>
            </a:r>
            <a:r>
              <a:rPr lang="en-US" dirty="0" smtClean="0"/>
              <a:t>repeat the process</a:t>
            </a:r>
          </a:p>
          <a:p>
            <a:r>
              <a:rPr lang="en-US" dirty="0" smtClean="0"/>
              <a:t>For </a:t>
            </a:r>
            <a:r>
              <a:rPr lang="en-US" dirty="0"/>
              <a:t>Nominal data, it calculates the entropy for each </a:t>
            </a:r>
            <a:r>
              <a:rPr lang="en-US" dirty="0" smtClean="0"/>
              <a:t>class</a:t>
            </a:r>
          </a:p>
          <a:p>
            <a:r>
              <a:rPr lang="en-US" dirty="0" err="1" smtClean="0"/>
              <a:t>InfoGain</a:t>
            </a:r>
            <a:r>
              <a:rPr lang="en-US" dirty="0" smtClean="0"/>
              <a:t> </a:t>
            </a:r>
            <a:r>
              <a:rPr lang="en-US" dirty="0"/>
              <a:t>is </a:t>
            </a:r>
            <a:r>
              <a:rPr lang="en-US" dirty="0" smtClean="0"/>
              <a:t>calculated and </a:t>
            </a:r>
            <a:r>
              <a:rPr lang="en-US" dirty="0"/>
              <a:t>Best gain value is selected </a:t>
            </a:r>
            <a:endParaRPr lang="en-US" dirty="0" smtClean="0"/>
          </a:p>
          <a:p>
            <a:r>
              <a:rPr lang="en-US" dirty="0" smtClean="0"/>
              <a:t>It </a:t>
            </a:r>
            <a:r>
              <a:rPr lang="en-US" dirty="0"/>
              <a:t>checks whether the subsets have same classes and if not, recursively repeat. Else it’s a leaf node.</a:t>
            </a:r>
          </a:p>
          <a:p>
            <a:endParaRPr lang="en-US" dirty="0"/>
          </a:p>
        </p:txBody>
      </p:sp>
      <p:pic>
        <p:nvPicPr>
          <p:cNvPr id="4" name="Picture 3"/>
          <p:cNvPicPr/>
          <p:nvPr/>
        </p:nvPicPr>
        <p:blipFill rotWithShape="1">
          <a:blip r:embed="rId2">
            <a:extLst>
              <a:ext uri="{28A0092B-C50C-407E-A947-70E740481C1C}">
                <a14:useLocalDpi xmlns:a14="http://schemas.microsoft.com/office/drawing/2010/main" val="0"/>
              </a:ext>
            </a:extLst>
          </a:blip>
          <a:srcRect l="4444" t="53113" r="49167" b="12055"/>
          <a:stretch/>
        </p:blipFill>
        <p:spPr bwMode="auto">
          <a:xfrm>
            <a:off x="7334865" y="2038656"/>
            <a:ext cx="4218038" cy="230720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64521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List of Resources</a:t>
            </a:r>
            <a:endParaRPr lang="en-US" dirty="0"/>
          </a:p>
        </p:txBody>
      </p:sp>
      <p:sp>
        <p:nvSpPr>
          <p:cNvPr id="3" name="Content Placeholder 2"/>
          <p:cNvSpPr>
            <a:spLocks noGrp="1"/>
          </p:cNvSpPr>
          <p:nvPr>
            <p:ph idx="1"/>
          </p:nvPr>
        </p:nvSpPr>
        <p:spPr/>
        <p:txBody>
          <a:bodyPr/>
          <a:lstStyle/>
          <a:p>
            <a:pPr lvl="0"/>
            <a:r>
              <a:rPr lang="en-US" dirty="0"/>
              <a:t>http://jmlr.org/proceedings/papers/v28/denil13-supp.pdf</a:t>
            </a:r>
          </a:p>
          <a:p>
            <a:pPr lvl="0"/>
            <a:r>
              <a:rPr lang="en-US" dirty="0"/>
              <a:t>Random Forests-Leo </a:t>
            </a:r>
            <a:r>
              <a:rPr lang="en-US" dirty="0" err="1"/>
              <a:t>Breiman</a:t>
            </a:r>
            <a:r>
              <a:rPr lang="en-US" dirty="0"/>
              <a:t> https://www.stat.berkeley.edu/~breiman/randomforest2001.pdf</a:t>
            </a:r>
          </a:p>
          <a:p>
            <a:r>
              <a:rPr lang="en-US" dirty="0"/>
              <a:t>An Introduction to Statistical Learning with applications in R  - Trevor Hastie, Robert </a:t>
            </a:r>
            <a:r>
              <a:rPr lang="en-US" dirty="0" err="1"/>
              <a:t>Tibshirani</a:t>
            </a:r>
            <a:r>
              <a:rPr lang="en-US" dirty="0"/>
              <a:t>, Daniela Witten, Gareth </a:t>
            </a:r>
            <a:r>
              <a:rPr lang="en-US" dirty="0" smtClean="0"/>
              <a:t>James</a:t>
            </a:r>
          </a:p>
          <a:p>
            <a:r>
              <a:rPr lang="en-US" dirty="0"/>
              <a:t>Witten and Frank's textbook, </a:t>
            </a:r>
            <a:r>
              <a:rPr lang="en-US" i="1" dirty="0"/>
              <a:t>Data Mining Practical Machine Learning Tools and </a:t>
            </a:r>
            <a:r>
              <a:rPr lang="en-US" i="1" dirty="0" smtClean="0"/>
              <a:t>Techniques</a:t>
            </a:r>
          </a:p>
        </p:txBody>
      </p:sp>
    </p:spTree>
    <p:extLst>
      <p:ext uri="{BB962C8B-B14F-4D97-AF65-F5344CB8AC3E}">
        <p14:creationId xmlns:p14="http://schemas.microsoft.com/office/powerpoint/2010/main" val="1882729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96344" y="3030585"/>
            <a:ext cx="6021976" cy="707886"/>
          </a:xfrm>
          <a:prstGeom prst="rect">
            <a:avLst/>
          </a:prstGeom>
          <a:noFill/>
        </p:spPr>
        <p:txBody>
          <a:bodyPr wrap="square" rtlCol="0">
            <a:spAutoFit/>
          </a:bodyPr>
          <a:lstStyle/>
          <a:p>
            <a:r>
              <a:rPr lang="en-IN" sz="4000" dirty="0" smtClean="0"/>
              <a:t>Business Understanding</a:t>
            </a:r>
            <a:endParaRPr lang="en-IN" sz="4000" dirty="0"/>
          </a:p>
        </p:txBody>
      </p:sp>
    </p:spTree>
    <p:extLst>
      <p:ext uri="{BB962C8B-B14F-4D97-AF65-F5344CB8AC3E}">
        <p14:creationId xmlns:p14="http://schemas.microsoft.com/office/powerpoint/2010/main" val="40910605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1818" y="2873830"/>
            <a:ext cx="2638697" cy="830997"/>
          </a:xfrm>
          <a:prstGeom prst="rect">
            <a:avLst/>
          </a:prstGeom>
          <a:noFill/>
        </p:spPr>
        <p:txBody>
          <a:bodyPr wrap="square" rtlCol="0">
            <a:spAutoFit/>
          </a:bodyPr>
          <a:lstStyle/>
          <a:p>
            <a:r>
              <a:rPr lang="en-IN" sz="4800" dirty="0" smtClean="0"/>
              <a:t>Approach</a:t>
            </a:r>
            <a:endParaRPr lang="en-IN" sz="4800" dirty="0"/>
          </a:p>
        </p:txBody>
      </p:sp>
    </p:spTree>
    <p:extLst>
      <p:ext uri="{BB962C8B-B14F-4D97-AF65-F5344CB8AC3E}">
        <p14:creationId xmlns:p14="http://schemas.microsoft.com/office/powerpoint/2010/main" val="33353530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2287" y="2899956"/>
            <a:ext cx="4963885" cy="769441"/>
          </a:xfrm>
          <a:prstGeom prst="rect">
            <a:avLst/>
          </a:prstGeom>
          <a:noFill/>
        </p:spPr>
        <p:txBody>
          <a:bodyPr wrap="square" rtlCol="0">
            <a:spAutoFit/>
          </a:bodyPr>
          <a:lstStyle/>
          <a:p>
            <a:r>
              <a:rPr lang="en-IN" sz="4400" dirty="0" smtClean="0"/>
              <a:t>Data Understanding</a:t>
            </a:r>
            <a:endParaRPr lang="en-IN" sz="4400" dirty="0"/>
          </a:p>
        </p:txBody>
      </p:sp>
    </p:spTree>
    <p:extLst>
      <p:ext uri="{BB962C8B-B14F-4D97-AF65-F5344CB8AC3E}">
        <p14:creationId xmlns:p14="http://schemas.microsoft.com/office/powerpoint/2010/main" val="5966473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13017" y="2886892"/>
            <a:ext cx="6400800" cy="769441"/>
          </a:xfrm>
          <a:prstGeom prst="rect">
            <a:avLst/>
          </a:prstGeom>
          <a:noFill/>
        </p:spPr>
        <p:txBody>
          <a:bodyPr wrap="square" rtlCol="0">
            <a:spAutoFit/>
          </a:bodyPr>
          <a:lstStyle/>
          <a:p>
            <a:r>
              <a:rPr lang="en-IN" sz="4400" dirty="0" smtClean="0"/>
              <a:t>Summary of the Dataset</a:t>
            </a:r>
            <a:endParaRPr lang="en-IN" sz="4400" dirty="0"/>
          </a:p>
        </p:txBody>
      </p:sp>
    </p:spTree>
    <p:extLst>
      <p:ext uri="{BB962C8B-B14F-4D97-AF65-F5344CB8AC3E}">
        <p14:creationId xmlns:p14="http://schemas.microsoft.com/office/powerpoint/2010/main" val="10705640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8777" y="2743201"/>
            <a:ext cx="6400800" cy="769441"/>
          </a:xfrm>
          <a:prstGeom prst="rect">
            <a:avLst/>
          </a:prstGeom>
          <a:noFill/>
        </p:spPr>
        <p:txBody>
          <a:bodyPr wrap="square" rtlCol="0">
            <a:spAutoFit/>
          </a:bodyPr>
          <a:lstStyle/>
          <a:p>
            <a:r>
              <a:rPr lang="en-IN" sz="4400" dirty="0" smtClean="0"/>
              <a:t>Exploratory Data Analysis</a:t>
            </a:r>
            <a:endParaRPr lang="en-IN" sz="4400" dirty="0"/>
          </a:p>
        </p:txBody>
      </p:sp>
    </p:spTree>
    <p:extLst>
      <p:ext uri="{BB962C8B-B14F-4D97-AF65-F5344CB8AC3E}">
        <p14:creationId xmlns:p14="http://schemas.microsoft.com/office/powerpoint/2010/main" val="10689526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78331" y="3017521"/>
            <a:ext cx="6400800" cy="769441"/>
          </a:xfrm>
          <a:prstGeom prst="rect">
            <a:avLst/>
          </a:prstGeom>
          <a:noFill/>
        </p:spPr>
        <p:txBody>
          <a:bodyPr wrap="square" rtlCol="0">
            <a:spAutoFit/>
          </a:bodyPr>
          <a:lstStyle/>
          <a:p>
            <a:r>
              <a:rPr lang="en-IN" sz="4400" dirty="0" smtClean="0"/>
              <a:t>Exploratory Data Analysis</a:t>
            </a:r>
            <a:endParaRPr lang="en-IN" sz="4400" dirty="0"/>
          </a:p>
        </p:txBody>
      </p:sp>
    </p:spTree>
    <p:extLst>
      <p:ext uri="{BB962C8B-B14F-4D97-AF65-F5344CB8AC3E}">
        <p14:creationId xmlns:p14="http://schemas.microsoft.com/office/powerpoint/2010/main" val="23707948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53097" y="2664825"/>
            <a:ext cx="6400800" cy="830997"/>
          </a:xfrm>
          <a:prstGeom prst="rect">
            <a:avLst/>
          </a:prstGeom>
          <a:noFill/>
        </p:spPr>
        <p:txBody>
          <a:bodyPr wrap="square" rtlCol="0">
            <a:spAutoFit/>
          </a:bodyPr>
          <a:lstStyle/>
          <a:p>
            <a:r>
              <a:rPr lang="en-IN" sz="4800" dirty="0" smtClean="0"/>
              <a:t>Data Visualisation</a:t>
            </a:r>
            <a:endParaRPr lang="en-IN" sz="4800" dirty="0"/>
          </a:p>
        </p:txBody>
      </p:sp>
    </p:spTree>
    <p:extLst>
      <p:ext uri="{BB962C8B-B14F-4D97-AF65-F5344CB8AC3E}">
        <p14:creationId xmlns:p14="http://schemas.microsoft.com/office/powerpoint/2010/main" val="988133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2288" y="2795453"/>
            <a:ext cx="5564777" cy="830997"/>
          </a:xfrm>
          <a:prstGeom prst="rect">
            <a:avLst/>
          </a:prstGeom>
          <a:noFill/>
        </p:spPr>
        <p:txBody>
          <a:bodyPr wrap="square" rtlCol="0">
            <a:spAutoFit/>
          </a:bodyPr>
          <a:lstStyle/>
          <a:p>
            <a:r>
              <a:rPr lang="en-IN" sz="4800" dirty="0" smtClean="0"/>
              <a:t>Data Preparation</a:t>
            </a:r>
            <a:endParaRPr lang="en-IN" sz="4800" dirty="0"/>
          </a:p>
        </p:txBody>
      </p:sp>
    </p:spTree>
    <p:extLst>
      <p:ext uri="{BB962C8B-B14F-4D97-AF65-F5344CB8AC3E}">
        <p14:creationId xmlns:p14="http://schemas.microsoft.com/office/powerpoint/2010/main" val="10573179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48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16</TotalTime>
  <Words>1110</Words>
  <Application>Microsoft Office PowerPoint</Application>
  <PresentationFormat>Custom</PresentationFormat>
  <Paragraphs>74</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Equity</vt:lpstr>
      <vt:lpstr>   Name   : BARUN KUMAR Roll no. : 18125760015</vt:lpstr>
      <vt:lpstr>PowerPoint Presentation</vt:lpstr>
      <vt:lpstr>Problem Statement</vt:lpstr>
      <vt:lpstr>Business Understanding</vt:lpstr>
      <vt:lpstr>Approach</vt:lpstr>
      <vt:lpstr>Data Understanding</vt:lpstr>
      <vt:lpstr>PowerPoint Presentation</vt:lpstr>
      <vt:lpstr>PowerPoint Presentation</vt:lpstr>
      <vt:lpstr>Dataset Summary</vt:lpstr>
      <vt:lpstr>Data Exploration</vt:lpstr>
      <vt:lpstr>Data Exploration</vt:lpstr>
      <vt:lpstr>Data Processing</vt:lpstr>
      <vt:lpstr>Weka Code Description (J4.8)</vt:lpstr>
      <vt:lpstr>List of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XXXXXX Roll no.XXXXXX</dc:title>
  <dc:creator>Mallikarjuna Doddamane [MaGE]</dc:creator>
  <cp:lastModifiedBy>Barun Kumar</cp:lastModifiedBy>
  <cp:revision>6</cp:revision>
  <dcterms:created xsi:type="dcterms:W3CDTF">2018-02-05T13:42:06Z</dcterms:created>
  <dcterms:modified xsi:type="dcterms:W3CDTF">2019-05-08T12:43:56Z</dcterms:modified>
</cp:coreProperties>
</file>